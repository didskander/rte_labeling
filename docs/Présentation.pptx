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55367" autoAdjust="0"/>
  </p:normalViewPr>
  <p:slideViewPr>
    <p:cSldViewPr snapToGrid="0">
      <p:cViewPr varScale="1">
        <p:scale>
          <a:sx n="53" d="100"/>
          <a:sy n="53" d="100"/>
        </p:scale>
        <p:origin x="179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D0790-BA81-44A4-B4EC-54DCBAB516D3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1A539-4B63-428F-BF4B-2FDCB0814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60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Today</a:t>
            </a:r>
            <a:r>
              <a:rPr lang="fr-FR" dirty="0"/>
              <a:t> I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present</a:t>
            </a:r>
            <a:r>
              <a:rPr lang="fr-FR" dirty="0"/>
              <a:t> the </a:t>
            </a:r>
            <a:r>
              <a:rPr lang="fr-FR" dirty="0" err="1"/>
              <a:t>overall</a:t>
            </a:r>
            <a:r>
              <a:rPr lang="fr-FR" dirty="0"/>
              <a:t> </a:t>
            </a:r>
            <a:r>
              <a:rPr lang="fr-FR" dirty="0" err="1"/>
              <a:t>strategy</a:t>
            </a:r>
            <a:r>
              <a:rPr lang="fr-FR" dirty="0"/>
              <a:t> for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master's</a:t>
            </a:r>
            <a:r>
              <a:rPr lang="fr-FR" dirty="0"/>
              <a:t> </a:t>
            </a:r>
            <a:r>
              <a:rPr lang="fr-FR" dirty="0" err="1"/>
              <a:t>thesis</a:t>
            </a:r>
            <a:r>
              <a:rPr lang="fr-FR" dirty="0"/>
              <a:t> on </a:t>
            </a:r>
            <a:r>
              <a:rPr lang="fr-FR" dirty="0" err="1"/>
              <a:t>explainable</a:t>
            </a:r>
            <a:r>
              <a:rPr lang="fr-FR" dirty="0"/>
              <a:t> </a:t>
            </a:r>
            <a:r>
              <a:rPr lang="fr-FR" dirty="0" err="1"/>
              <a:t>learning-based</a:t>
            </a:r>
            <a:r>
              <a:rPr lang="fr-FR" dirty="0"/>
              <a:t> protection.</a:t>
            </a:r>
          </a:p>
          <a:p>
            <a:r>
              <a:rPr lang="fr-FR" dirty="0"/>
              <a:t> The main goal </a:t>
            </a:r>
            <a:r>
              <a:rPr lang="fr-FR" dirty="0" err="1"/>
              <a:t>is</a:t>
            </a:r>
            <a:r>
              <a:rPr lang="fr-FR" dirty="0"/>
              <a:t> to </a:t>
            </a:r>
            <a:r>
              <a:rPr lang="fr-FR" dirty="0" err="1"/>
              <a:t>investigate</a:t>
            </a:r>
            <a:r>
              <a:rPr lang="fr-FR" dirty="0"/>
              <a:t> </a:t>
            </a:r>
            <a:r>
              <a:rPr lang="fr-FR" dirty="0" err="1"/>
              <a:t>whether</a:t>
            </a:r>
            <a:r>
              <a:rPr lang="fr-FR" dirty="0"/>
              <a:t> machine </a:t>
            </a:r>
            <a:r>
              <a:rPr lang="fr-FR" dirty="0" err="1"/>
              <a:t>learning</a:t>
            </a:r>
            <a:r>
              <a:rPr lang="fr-FR" dirty="0"/>
              <a:t> can </a:t>
            </a:r>
            <a:r>
              <a:rPr lang="fr-FR" dirty="0" err="1"/>
              <a:t>improve</a:t>
            </a:r>
            <a:r>
              <a:rPr lang="fr-FR" dirty="0"/>
              <a:t> protection performance in a </a:t>
            </a:r>
            <a:r>
              <a:rPr lang="fr-FR" dirty="0" err="1"/>
              <a:t>challenging</a:t>
            </a:r>
            <a:r>
              <a:rPr lang="fr-FR" dirty="0"/>
              <a:t> </a:t>
            </a:r>
            <a:r>
              <a:rPr lang="fr-FR" dirty="0" err="1"/>
              <a:t>target</a:t>
            </a:r>
            <a:r>
              <a:rPr lang="fr-FR" dirty="0"/>
              <a:t> </a:t>
            </a:r>
            <a:r>
              <a:rPr lang="fr-FR" dirty="0" err="1"/>
              <a:t>fault</a:t>
            </a:r>
            <a:r>
              <a:rPr lang="fr-FR" dirty="0"/>
              <a:t> </a:t>
            </a:r>
            <a:r>
              <a:rPr lang="fr-FR" dirty="0" err="1"/>
              <a:t>regime</a:t>
            </a:r>
            <a:r>
              <a:rPr lang="fr-FR" dirty="0"/>
              <a:t> </a:t>
            </a:r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conventional</a:t>
            </a:r>
            <a:r>
              <a:rPr lang="fr-FR" dirty="0"/>
              <a:t> </a:t>
            </a:r>
            <a:r>
              <a:rPr lang="fr-FR" dirty="0" err="1"/>
              <a:t>relays</a:t>
            </a:r>
            <a:r>
              <a:rPr lang="fr-FR" dirty="0"/>
              <a:t> are </a:t>
            </a:r>
            <a:r>
              <a:rPr lang="fr-FR" dirty="0" err="1"/>
              <a:t>known</a:t>
            </a:r>
            <a:r>
              <a:rPr lang="fr-FR" dirty="0"/>
              <a:t> to struggle. </a:t>
            </a:r>
          </a:p>
          <a:p>
            <a:r>
              <a:rPr lang="fr-FR" dirty="0"/>
              <a:t>I </a:t>
            </a:r>
            <a:r>
              <a:rPr lang="fr-FR" dirty="0" err="1"/>
              <a:t>will</a:t>
            </a:r>
            <a:r>
              <a:rPr lang="fr-FR" dirty="0"/>
              <a:t> first </a:t>
            </a:r>
            <a:r>
              <a:rPr lang="fr-FR" dirty="0" err="1"/>
              <a:t>establish</a:t>
            </a:r>
            <a:r>
              <a:rPr lang="fr-FR" dirty="0"/>
              <a:t> a </a:t>
            </a:r>
            <a:r>
              <a:rPr lang="fr-FR" dirty="0" err="1"/>
              <a:t>conventional</a:t>
            </a:r>
            <a:r>
              <a:rPr lang="fr-FR" dirty="0"/>
              <a:t> </a:t>
            </a:r>
            <a:r>
              <a:rPr lang="fr-FR" dirty="0" err="1"/>
              <a:t>baseline</a:t>
            </a:r>
            <a:r>
              <a:rPr lang="fr-FR" dirty="0"/>
              <a:t> </a:t>
            </a:r>
            <a:r>
              <a:rPr lang="fr-FR" dirty="0" err="1"/>
              <a:t>relay</a:t>
            </a:r>
            <a:r>
              <a:rPr lang="fr-FR" dirty="0"/>
              <a:t> and </a:t>
            </a:r>
            <a:r>
              <a:rPr lang="fr-FR" dirty="0" err="1"/>
              <a:t>then</a:t>
            </a:r>
            <a:r>
              <a:rPr lang="fr-FR" dirty="0"/>
              <a:t> compare </a:t>
            </a:r>
            <a:r>
              <a:rPr lang="fr-FR" dirty="0" err="1"/>
              <a:t>several</a:t>
            </a:r>
            <a:r>
              <a:rPr lang="fr-FR" dirty="0"/>
              <a:t> </a:t>
            </a:r>
            <a:r>
              <a:rPr lang="fr-FR" dirty="0" err="1"/>
              <a:t>learning-based</a:t>
            </a:r>
            <a:r>
              <a:rPr lang="fr-FR" dirty="0"/>
              <a:t> </a:t>
            </a:r>
            <a:r>
              <a:rPr lang="fr-FR" dirty="0" err="1"/>
              <a:t>approaches</a:t>
            </a:r>
            <a:r>
              <a:rPr lang="fr-FR" dirty="0"/>
              <a:t> </a:t>
            </a:r>
            <a:r>
              <a:rPr lang="fr-FR" dirty="0" err="1"/>
              <a:t>against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. </a:t>
            </a:r>
          </a:p>
          <a:p>
            <a:r>
              <a:rPr lang="fr-FR" dirty="0"/>
              <a:t>The </a:t>
            </a:r>
            <a:r>
              <a:rPr lang="fr-FR" dirty="0" err="1"/>
              <a:t>work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organized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five phases: </a:t>
            </a:r>
            <a:r>
              <a:rPr lang="fr-FR" dirty="0" err="1"/>
              <a:t>literature</a:t>
            </a:r>
            <a:r>
              <a:rPr lang="fr-FR" dirty="0"/>
              <a:t> </a:t>
            </a:r>
            <a:r>
              <a:rPr lang="fr-FR" dirty="0" err="1"/>
              <a:t>review</a:t>
            </a:r>
            <a:r>
              <a:rPr lang="fr-FR" dirty="0"/>
              <a:t>, </a:t>
            </a:r>
            <a:r>
              <a:rPr lang="fr-FR" dirty="0" err="1"/>
              <a:t>framework</a:t>
            </a:r>
            <a:r>
              <a:rPr lang="fr-FR" dirty="0"/>
              <a:t> </a:t>
            </a:r>
            <a:r>
              <a:rPr lang="fr-FR" dirty="0" err="1"/>
              <a:t>development</a:t>
            </a:r>
            <a:r>
              <a:rPr lang="fr-FR" dirty="0"/>
              <a:t>, data </a:t>
            </a:r>
            <a:r>
              <a:rPr lang="fr-FR" dirty="0" err="1"/>
              <a:t>preparation</a:t>
            </a:r>
            <a:r>
              <a:rPr lang="fr-FR" dirty="0"/>
              <a:t>, model </a:t>
            </a:r>
            <a:r>
              <a:rPr lang="fr-FR" dirty="0" err="1"/>
              <a:t>evaluation</a:t>
            </a:r>
            <a:r>
              <a:rPr lang="fr-FR" dirty="0"/>
              <a:t>, and validation. A key </a:t>
            </a:r>
            <a:r>
              <a:rPr lang="fr-FR" dirty="0" err="1"/>
              <a:t>requirement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explainability</a:t>
            </a:r>
            <a:r>
              <a:rPr lang="fr-FR" dirty="0"/>
              <a:t>, </a:t>
            </a:r>
            <a:r>
              <a:rPr lang="fr-FR" dirty="0" err="1"/>
              <a:t>so</a:t>
            </a:r>
            <a:r>
              <a:rPr lang="fr-FR" dirty="0"/>
              <a:t> I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understand</a:t>
            </a:r>
            <a:r>
              <a:rPr lang="fr-FR" dirty="0"/>
              <a:t> not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whether</a:t>
            </a:r>
            <a:r>
              <a:rPr lang="fr-FR" dirty="0"/>
              <a:t> a model </a:t>
            </a:r>
            <a:r>
              <a:rPr lang="fr-FR" dirty="0" err="1"/>
              <a:t>works</a:t>
            </a:r>
            <a:r>
              <a:rPr lang="fr-FR" dirty="0"/>
              <a:t>, but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makes</a:t>
            </a:r>
            <a:r>
              <a:rPr lang="fr-FR" dirty="0"/>
              <a:t> a trip </a:t>
            </a:r>
            <a:r>
              <a:rPr lang="fr-FR" dirty="0" err="1"/>
              <a:t>decision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1A539-4B63-428F-BF4B-2FDCB0814AA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1595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Read &amp; Design</a:t>
            </a:r>
          </a:p>
          <a:p>
            <a:r>
              <a:rPr lang="fr-FR" dirty="0"/>
              <a:t>The first </a:t>
            </a:r>
            <a:r>
              <a:rPr lang="fr-FR" dirty="0" err="1"/>
              <a:t>step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focused</a:t>
            </a:r>
            <a:r>
              <a:rPr lang="fr-FR" dirty="0"/>
              <a:t> </a:t>
            </a:r>
            <a:r>
              <a:rPr lang="fr-FR" dirty="0" err="1"/>
              <a:t>literature</a:t>
            </a:r>
            <a:r>
              <a:rPr lang="fr-FR" dirty="0"/>
              <a:t> </a:t>
            </a:r>
            <a:r>
              <a:rPr lang="fr-FR" dirty="0" err="1"/>
              <a:t>review</a:t>
            </a:r>
            <a:r>
              <a:rPr lang="fr-FR" dirty="0"/>
              <a:t> on power system protection and machine-</a:t>
            </a:r>
            <a:r>
              <a:rPr lang="fr-FR" dirty="0" err="1"/>
              <a:t>learning</a:t>
            </a:r>
            <a:r>
              <a:rPr lang="fr-FR" dirty="0"/>
              <a:t>-</a:t>
            </a:r>
            <a:r>
              <a:rPr lang="fr-FR" dirty="0" err="1"/>
              <a:t>based</a:t>
            </a:r>
            <a:r>
              <a:rPr lang="fr-FR" dirty="0"/>
              <a:t> protection </a:t>
            </a:r>
            <a:r>
              <a:rPr lang="fr-FR" dirty="0" err="1"/>
              <a:t>methods</a:t>
            </a:r>
            <a:r>
              <a:rPr lang="fr-FR" dirty="0"/>
              <a:t>. </a:t>
            </a:r>
          </a:p>
          <a:p>
            <a:r>
              <a:rPr lang="fr-FR" dirty="0"/>
              <a:t>During </a:t>
            </a:r>
            <a:r>
              <a:rPr lang="fr-FR" dirty="0" err="1"/>
              <a:t>this</a:t>
            </a:r>
            <a:r>
              <a:rPr lang="fr-FR" dirty="0"/>
              <a:t> phase I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define</a:t>
            </a:r>
            <a:r>
              <a:rPr lang="fr-FR" dirty="0"/>
              <a:t> the </a:t>
            </a:r>
            <a:r>
              <a:rPr lang="fr-FR" dirty="0" err="1"/>
              <a:t>target</a:t>
            </a:r>
            <a:r>
              <a:rPr lang="fr-FR" dirty="0"/>
              <a:t> </a:t>
            </a:r>
            <a:r>
              <a:rPr lang="fr-FR" dirty="0" err="1"/>
              <a:t>fault</a:t>
            </a:r>
            <a:r>
              <a:rPr lang="fr-FR" dirty="0"/>
              <a:t> </a:t>
            </a:r>
            <a:r>
              <a:rPr lang="fr-FR" dirty="0" err="1"/>
              <a:t>regime</a:t>
            </a:r>
            <a:r>
              <a:rPr lang="fr-FR" dirty="0"/>
              <a:t>, </a:t>
            </a:r>
            <a:r>
              <a:rPr lang="fr-FR" dirty="0" err="1"/>
              <a:t>meaning</a:t>
            </a:r>
            <a:r>
              <a:rPr lang="fr-FR" dirty="0"/>
              <a:t> the </a:t>
            </a:r>
            <a:r>
              <a:rPr lang="fr-FR" dirty="0" err="1"/>
              <a:t>specific</a:t>
            </a:r>
            <a:r>
              <a:rPr lang="fr-FR" dirty="0"/>
              <a:t> </a:t>
            </a:r>
            <a:r>
              <a:rPr lang="fr-FR" dirty="0" err="1"/>
              <a:t>difficult</a:t>
            </a:r>
            <a:r>
              <a:rPr lang="fr-FR" dirty="0"/>
              <a:t> operating condition </a:t>
            </a:r>
            <a:r>
              <a:rPr lang="fr-FR" dirty="0" err="1"/>
              <a:t>that</a:t>
            </a:r>
            <a:r>
              <a:rPr lang="fr-FR" dirty="0"/>
              <a:t> the </a:t>
            </a:r>
            <a:r>
              <a:rPr lang="fr-FR" dirty="0" err="1"/>
              <a:t>thesis</a:t>
            </a:r>
            <a:r>
              <a:rPr lang="fr-FR" dirty="0"/>
              <a:t> </a:t>
            </a:r>
            <a:r>
              <a:rPr lang="fr-FR" dirty="0" err="1"/>
              <a:t>addresses</a:t>
            </a:r>
            <a:r>
              <a:rPr lang="fr-FR" dirty="0"/>
              <a:t>. </a:t>
            </a:r>
          </a:p>
          <a:p>
            <a:r>
              <a:rPr lang="fr-FR" dirty="0"/>
              <a:t>I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select a </a:t>
            </a:r>
            <a:r>
              <a:rPr lang="fr-FR" dirty="0" err="1"/>
              <a:t>conventional</a:t>
            </a:r>
            <a:r>
              <a:rPr lang="fr-FR" dirty="0"/>
              <a:t> </a:t>
            </a:r>
            <a:r>
              <a:rPr lang="fr-FR" dirty="0" err="1"/>
              <a:t>baseline</a:t>
            </a:r>
            <a:r>
              <a:rPr lang="fr-FR" dirty="0"/>
              <a:t> </a:t>
            </a:r>
            <a:r>
              <a:rPr lang="fr-FR" dirty="0" err="1"/>
              <a:t>relay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represents</a:t>
            </a:r>
            <a:r>
              <a:rPr lang="fr-FR" dirty="0"/>
              <a:t> </a:t>
            </a:r>
            <a:r>
              <a:rPr lang="fr-FR" dirty="0" err="1"/>
              <a:t>current</a:t>
            </a:r>
            <a:r>
              <a:rPr lang="fr-FR" dirty="0"/>
              <a:t> practice. </a:t>
            </a:r>
          </a:p>
          <a:p>
            <a:r>
              <a:rPr lang="fr-FR" dirty="0" err="1"/>
              <a:t>Finally</a:t>
            </a:r>
            <a:r>
              <a:rPr lang="fr-FR" dirty="0"/>
              <a:t>, I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decide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protection </a:t>
            </a:r>
            <a:r>
              <a:rPr lang="fr-FR" dirty="0" err="1"/>
              <a:t>features</a:t>
            </a:r>
            <a:r>
              <a:rPr lang="fr-FR" dirty="0"/>
              <a:t> and model </a:t>
            </a:r>
            <a:r>
              <a:rPr lang="fr-FR" dirty="0" err="1"/>
              <a:t>families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investigated</a:t>
            </a:r>
            <a:r>
              <a:rPr lang="fr-FR" dirty="0"/>
              <a:t>. </a:t>
            </a:r>
          </a:p>
          <a:p>
            <a:r>
              <a:rPr lang="fr-FR" b="1" dirty="0"/>
              <a:t>Code Framework</a:t>
            </a:r>
          </a:p>
          <a:p>
            <a:r>
              <a:rPr lang="fr-FR" dirty="0" err="1"/>
              <a:t>Before</a:t>
            </a:r>
            <a:r>
              <a:rPr lang="fr-FR" dirty="0"/>
              <a:t> training </a:t>
            </a:r>
            <a:r>
              <a:rPr lang="fr-FR" dirty="0" err="1"/>
              <a:t>models</a:t>
            </a:r>
            <a:r>
              <a:rPr lang="fr-FR" dirty="0"/>
              <a:t>, I </a:t>
            </a:r>
            <a:r>
              <a:rPr lang="fr-FR" dirty="0" err="1"/>
              <a:t>want</a:t>
            </a:r>
            <a:r>
              <a:rPr lang="fr-FR" dirty="0"/>
              <a:t> a </a:t>
            </a:r>
            <a:r>
              <a:rPr lang="fr-FR" dirty="0" err="1"/>
              <a:t>reusable</a:t>
            </a:r>
            <a:r>
              <a:rPr lang="fr-FR" dirty="0"/>
              <a:t> Python </a:t>
            </a:r>
            <a:r>
              <a:rPr lang="fr-FR" dirty="0" err="1"/>
              <a:t>framework</a:t>
            </a:r>
            <a:r>
              <a:rPr lang="fr-FR" dirty="0"/>
              <a:t>. </a:t>
            </a:r>
          </a:p>
          <a:p>
            <a:r>
              <a:rPr lang="fr-FR" dirty="0"/>
              <a:t>The </a:t>
            </a:r>
            <a:r>
              <a:rPr lang="fr-FR" dirty="0" err="1"/>
              <a:t>framework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contain</a:t>
            </a:r>
            <a:r>
              <a:rPr lang="fr-FR" dirty="0"/>
              <a:t> </a:t>
            </a:r>
            <a:r>
              <a:rPr lang="fr-FR" dirty="0" err="1"/>
              <a:t>separate</a:t>
            </a:r>
            <a:r>
              <a:rPr lang="fr-FR" dirty="0"/>
              <a:t> modules for data handling, </a:t>
            </a:r>
            <a:r>
              <a:rPr lang="fr-FR" dirty="0" err="1"/>
              <a:t>feature</a:t>
            </a:r>
            <a:r>
              <a:rPr lang="fr-FR" dirty="0"/>
              <a:t> extraction, training, </a:t>
            </a:r>
            <a:r>
              <a:rPr lang="fr-FR" dirty="0" err="1"/>
              <a:t>evaluation</a:t>
            </a:r>
            <a:r>
              <a:rPr lang="fr-FR" dirty="0"/>
              <a:t>, and </a:t>
            </a:r>
            <a:r>
              <a:rPr lang="fr-FR" dirty="0" err="1"/>
              <a:t>explainability</a:t>
            </a:r>
            <a:r>
              <a:rPr lang="fr-FR" dirty="0"/>
              <a:t>. </a:t>
            </a:r>
          </a:p>
          <a:p>
            <a:r>
              <a:rPr lang="fr-FR" dirty="0"/>
              <a:t>This </a:t>
            </a:r>
            <a:r>
              <a:rPr lang="fr-FR" dirty="0" err="1"/>
              <a:t>makes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easier</a:t>
            </a:r>
            <a:r>
              <a:rPr lang="fr-FR" dirty="0"/>
              <a:t> to compare </a:t>
            </a:r>
            <a:r>
              <a:rPr lang="fr-FR" dirty="0" err="1"/>
              <a:t>different</a:t>
            </a:r>
            <a:r>
              <a:rPr lang="fr-FR" dirty="0"/>
              <a:t> architectures </a:t>
            </a:r>
            <a:r>
              <a:rPr lang="fr-FR" dirty="0" err="1"/>
              <a:t>under</a:t>
            </a:r>
            <a:r>
              <a:rPr lang="fr-FR" dirty="0"/>
              <a:t> </a:t>
            </a:r>
            <a:r>
              <a:rPr lang="fr-FR" dirty="0" err="1"/>
              <a:t>identical</a:t>
            </a:r>
            <a:r>
              <a:rPr lang="fr-FR" dirty="0"/>
              <a:t> conditions. </a:t>
            </a:r>
          </a:p>
          <a:p>
            <a:r>
              <a:rPr lang="fr-FR" b="1" dirty="0"/>
              <a:t>Data Acquisition</a:t>
            </a:r>
          </a:p>
          <a:p>
            <a:r>
              <a:rPr lang="fr-FR" dirty="0" err="1"/>
              <a:t>My</a:t>
            </a:r>
            <a:r>
              <a:rPr lang="fr-FR" dirty="0"/>
              <a:t> first </a:t>
            </a:r>
            <a:r>
              <a:rPr lang="fr-FR" dirty="0" err="1"/>
              <a:t>preference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to </a:t>
            </a:r>
            <a:r>
              <a:rPr lang="fr-FR" dirty="0" err="1"/>
              <a:t>obtain</a:t>
            </a:r>
            <a:r>
              <a:rPr lang="fr-FR" dirty="0"/>
              <a:t> real or </a:t>
            </a:r>
            <a:r>
              <a:rPr lang="fr-FR" dirty="0" err="1"/>
              <a:t>recorded</a:t>
            </a:r>
            <a:r>
              <a:rPr lang="fr-FR" dirty="0"/>
              <a:t> </a:t>
            </a:r>
            <a:r>
              <a:rPr lang="fr-FR" dirty="0" err="1"/>
              <a:t>relay</a:t>
            </a:r>
            <a:r>
              <a:rPr lang="fr-FR" dirty="0"/>
              <a:t> </a:t>
            </a:r>
            <a:r>
              <a:rPr lang="fr-FR" dirty="0" err="1"/>
              <a:t>event</a:t>
            </a:r>
            <a:r>
              <a:rPr lang="fr-FR" dirty="0"/>
              <a:t> data. </a:t>
            </a:r>
          </a:p>
          <a:p>
            <a:r>
              <a:rPr lang="fr-FR" dirty="0"/>
              <a:t>Real data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valuable</a:t>
            </a:r>
            <a:r>
              <a:rPr lang="fr-FR" dirty="0"/>
              <a:t> </a:t>
            </a:r>
            <a:r>
              <a:rPr lang="fr-FR" dirty="0" err="1"/>
              <a:t>because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reflects</a:t>
            </a:r>
            <a:r>
              <a:rPr lang="fr-FR" dirty="0"/>
              <a:t> </a:t>
            </a:r>
            <a:r>
              <a:rPr lang="fr-FR" dirty="0" err="1"/>
              <a:t>practical</a:t>
            </a:r>
            <a:r>
              <a:rPr lang="fr-FR" dirty="0"/>
              <a:t> operating conditions and </a:t>
            </a:r>
            <a:r>
              <a:rPr lang="fr-FR" dirty="0" err="1"/>
              <a:t>improves</a:t>
            </a:r>
            <a:r>
              <a:rPr lang="fr-FR" dirty="0"/>
              <a:t> </a:t>
            </a:r>
            <a:r>
              <a:rPr lang="fr-FR" dirty="0" err="1"/>
              <a:t>credibility</a:t>
            </a:r>
            <a:r>
              <a:rPr lang="fr-FR" dirty="0"/>
              <a:t>. </a:t>
            </a:r>
          </a:p>
          <a:p>
            <a:r>
              <a:rPr lang="fr-FR" dirty="0"/>
              <a:t>If </a:t>
            </a:r>
            <a:r>
              <a:rPr lang="fr-FR" dirty="0" err="1"/>
              <a:t>sufficient</a:t>
            </a:r>
            <a:r>
              <a:rPr lang="fr-FR" dirty="0"/>
              <a:t> real data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available</a:t>
            </a:r>
            <a:r>
              <a:rPr lang="fr-FR" dirty="0"/>
              <a:t>, I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generate</a:t>
            </a:r>
            <a:r>
              <a:rPr lang="fr-FR" dirty="0"/>
              <a:t> a simulation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a </a:t>
            </a:r>
            <a:r>
              <a:rPr lang="fr-FR" dirty="0" err="1"/>
              <a:t>defined</a:t>
            </a:r>
            <a:r>
              <a:rPr lang="fr-FR" dirty="0"/>
              <a:t> test network. </a:t>
            </a:r>
          </a:p>
          <a:p>
            <a:r>
              <a:rPr lang="fr-FR" dirty="0"/>
              <a:t>The simulation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include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fault</a:t>
            </a:r>
            <a:r>
              <a:rPr lang="fr-FR" dirty="0"/>
              <a:t> locations, </a:t>
            </a:r>
            <a:r>
              <a:rPr lang="fr-FR" dirty="0" err="1"/>
              <a:t>fault</a:t>
            </a:r>
            <a:r>
              <a:rPr lang="fr-FR" dirty="0"/>
              <a:t> </a:t>
            </a:r>
            <a:r>
              <a:rPr lang="fr-FR" dirty="0" err="1"/>
              <a:t>impedances</a:t>
            </a:r>
            <a:r>
              <a:rPr lang="fr-FR" dirty="0"/>
              <a:t>, operating points, and DER </a:t>
            </a:r>
            <a:r>
              <a:rPr lang="fr-FR" dirty="0" err="1"/>
              <a:t>penetration</a:t>
            </a:r>
            <a:r>
              <a:rPr lang="fr-FR" dirty="0"/>
              <a:t> </a:t>
            </a:r>
            <a:r>
              <a:rPr lang="fr-FR" dirty="0" err="1"/>
              <a:t>levels</a:t>
            </a:r>
            <a:r>
              <a:rPr lang="fr-FR" dirty="0"/>
              <a:t>. </a:t>
            </a:r>
          </a:p>
          <a:p>
            <a:r>
              <a:rPr lang="fr-FR" b="1" dirty="0"/>
              <a:t>Train, Test, and </a:t>
            </a:r>
            <a:r>
              <a:rPr lang="fr-FR" b="1" dirty="0" err="1"/>
              <a:t>Lab</a:t>
            </a:r>
            <a:r>
              <a:rPr lang="fr-FR" b="1" dirty="0"/>
              <a:t> Validation</a:t>
            </a:r>
          </a:p>
          <a:p>
            <a:r>
              <a:rPr lang="fr-FR" dirty="0"/>
              <a:t>Once the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available</a:t>
            </a:r>
            <a:r>
              <a:rPr lang="fr-FR" dirty="0"/>
              <a:t>, I </a:t>
            </a:r>
            <a:r>
              <a:rPr lang="fr-FR" dirty="0" err="1"/>
              <a:t>will</a:t>
            </a:r>
            <a:r>
              <a:rPr lang="fr-FR" dirty="0"/>
              <a:t> train the </a:t>
            </a:r>
            <a:r>
              <a:rPr lang="fr-FR" dirty="0" err="1"/>
              <a:t>selected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 and compare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the </a:t>
            </a:r>
            <a:r>
              <a:rPr lang="fr-FR" dirty="0" err="1"/>
              <a:t>conventional</a:t>
            </a:r>
            <a:r>
              <a:rPr lang="fr-FR" dirty="0"/>
              <a:t> </a:t>
            </a:r>
            <a:r>
              <a:rPr lang="fr-FR" dirty="0" err="1"/>
              <a:t>baseline</a:t>
            </a:r>
            <a:r>
              <a:rPr lang="fr-FR" dirty="0"/>
              <a:t> </a:t>
            </a:r>
            <a:r>
              <a:rPr lang="fr-FR" dirty="0" err="1"/>
              <a:t>relay</a:t>
            </a:r>
            <a:r>
              <a:rPr lang="fr-FR" dirty="0"/>
              <a:t>. </a:t>
            </a:r>
          </a:p>
          <a:p>
            <a:r>
              <a:rPr lang="fr-FR" dirty="0"/>
              <a:t>Evaluation </a:t>
            </a:r>
            <a:r>
              <a:rPr lang="fr-FR" dirty="0" err="1"/>
              <a:t>will</a:t>
            </a:r>
            <a:r>
              <a:rPr lang="fr-FR" dirty="0"/>
              <a:t> use protection-</a:t>
            </a:r>
            <a:r>
              <a:rPr lang="fr-FR" dirty="0" err="1"/>
              <a:t>specific</a:t>
            </a:r>
            <a:r>
              <a:rPr lang="fr-FR" dirty="0"/>
              <a:t> </a:t>
            </a:r>
            <a:r>
              <a:rPr lang="fr-FR" dirty="0" err="1"/>
              <a:t>metrics</a:t>
            </a:r>
            <a:r>
              <a:rPr lang="fr-FR" dirty="0"/>
              <a:t> </a:t>
            </a:r>
            <a:r>
              <a:rPr lang="fr-FR" dirty="0" err="1"/>
              <a:t>such</a:t>
            </a:r>
            <a:r>
              <a:rPr lang="fr-FR" dirty="0"/>
              <a:t> as </a:t>
            </a:r>
            <a:r>
              <a:rPr lang="fr-FR" dirty="0" err="1"/>
              <a:t>dependability</a:t>
            </a:r>
            <a:r>
              <a:rPr lang="fr-FR" dirty="0"/>
              <a:t>, </a:t>
            </a:r>
            <a:r>
              <a:rPr lang="fr-FR" dirty="0" err="1"/>
              <a:t>security</a:t>
            </a:r>
            <a:r>
              <a:rPr lang="fr-FR" dirty="0"/>
              <a:t>, </a:t>
            </a:r>
            <a:r>
              <a:rPr lang="fr-FR" dirty="0" err="1"/>
              <a:t>selectivity</a:t>
            </a:r>
            <a:r>
              <a:rPr lang="fr-FR" dirty="0"/>
              <a:t>, and operating time. </a:t>
            </a:r>
          </a:p>
          <a:p>
            <a:r>
              <a:rPr lang="fr-FR" dirty="0"/>
              <a:t>The best-</a:t>
            </a:r>
            <a:r>
              <a:rPr lang="fr-FR" dirty="0" err="1"/>
              <a:t>performing</a:t>
            </a:r>
            <a:r>
              <a:rPr lang="fr-FR" dirty="0"/>
              <a:t> model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validated</a:t>
            </a:r>
            <a:r>
              <a:rPr lang="fr-FR" dirty="0"/>
              <a:t> in a </a:t>
            </a:r>
            <a:r>
              <a:rPr lang="fr-FR" dirty="0" err="1"/>
              <a:t>laboratory</a:t>
            </a:r>
            <a:r>
              <a:rPr lang="fr-FR" dirty="0"/>
              <a:t> or HIL </a:t>
            </a:r>
            <a:r>
              <a:rPr lang="fr-FR" dirty="0" err="1"/>
              <a:t>environment</a:t>
            </a:r>
            <a:r>
              <a:rPr lang="fr-FR" dirty="0"/>
              <a:t>. </a:t>
            </a:r>
          </a:p>
          <a:p>
            <a:r>
              <a:rPr lang="fr-FR" dirty="0"/>
              <a:t>This validation </a:t>
            </a:r>
            <a:r>
              <a:rPr lang="fr-FR" dirty="0" err="1"/>
              <a:t>step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important to </a:t>
            </a:r>
            <a:r>
              <a:rPr lang="fr-FR" dirty="0" err="1"/>
              <a:t>evaluate</a:t>
            </a:r>
            <a:r>
              <a:rPr lang="fr-FR" dirty="0"/>
              <a:t> real-time </a:t>
            </a:r>
            <a:r>
              <a:rPr lang="fr-FR" dirty="0" err="1"/>
              <a:t>behavior</a:t>
            </a:r>
            <a:r>
              <a:rPr lang="fr-FR" dirty="0"/>
              <a:t> and </a:t>
            </a:r>
            <a:r>
              <a:rPr lang="fr-FR" dirty="0" err="1"/>
              <a:t>inference</a:t>
            </a:r>
            <a:r>
              <a:rPr lang="fr-FR" dirty="0"/>
              <a:t> </a:t>
            </a:r>
            <a:r>
              <a:rPr lang="fr-FR" dirty="0" err="1"/>
              <a:t>latency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1A539-4B63-428F-BF4B-2FDCB0814AA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4132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Core </a:t>
            </a:r>
            <a:r>
              <a:rPr lang="fr-FR" b="1" dirty="0" err="1"/>
              <a:t>Models</a:t>
            </a:r>
            <a:endParaRPr lang="fr-FR" b="1" dirty="0"/>
          </a:p>
          <a:p>
            <a:r>
              <a:rPr lang="fr-FR" dirty="0"/>
              <a:t>I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begin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are </a:t>
            </a:r>
            <a:r>
              <a:rPr lang="fr-FR" dirty="0" err="1"/>
              <a:t>relatively</a:t>
            </a:r>
            <a:r>
              <a:rPr lang="fr-FR" dirty="0"/>
              <a:t> simple, </a:t>
            </a:r>
            <a:r>
              <a:rPr lang="fr-FR" dirty="0" err="1"/>
              <a:t>robust</a:t>
            </a:r>
            <a:r>
              <a:rPr lang="fr-FR" dirty="0"/>
              <a:t>, and </a:t>
            </a:r>
            <a:r>
              <a:rPr lang="fr-FR" dirty="0" err="1"/>
              <a:t>easy</a:t>
            </a:r>
            <a:r>
              <a:rPr lang="fr-FR" dirty="0"/>
              <a:t> to </a:t>
            </a:r>
            <a:r>
              <a:rPr lang="fr-FR" dirty="0" err="1"/>
              <a:t>interpret</a:t>
            </a:r>
            <a:r>
              <a:rPr lang="fr-FR" dirty="0"/>
              <a:t>. </a:t>
            </a:r>
          </a:p>
          <a:p>
            <a:r>
              <a:rPr lang="fr-FR" dirty="0"/>
              <a:t>The first model </a:t>
            </a:r>
            <a:r>
              <a:rPr lang="fr-FR" dirty="0" err="1"/>
              <a:t>family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tree-based</a:t>
            </a:r>
            <a:r>
              <a:rPr lang="fr-FR" dirty="0"/>
              <a:t> ensemble, </a:t>
            </a:r>
            <a:r>
              <a:rPr lang="fr-FR" dirty="0" err="1"/>
              <a:t>such</a:t>
            </a:r>
            <a:r>
              <a:rPr lang="fr-FR" dirty="0"/>
              <a:t> as Random Forest or Gradient </a:t>
            </a:r>
            <a:r>
              <a:rPr lang="fr-FR" dirty="0" err="1"/>
              <a:t>Boosted</a:t>
            </a:r>
            <a:r>
              <a:rPr lang="fr-FR" dirty="0"/>
              <a:t> Trees. </a:t>
            </a:r>
          </a:p>
          <a:p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</a:t>
            </a:r>
            <a:r>
              <a:rPr lang="fr-FR" dirty="0" err="1"/>
              <a:t>well</a:t>
            </a:r>
            <a:r>
              <a:rPr lang="fr-FR" dirty="0"/>
              <a:t> on </a:t>
            </a:r>
            <a:r>
              <a:rPr lang="fr-FR" dirty="0" err="1"/>
              <a:t>engineered</a:t>
            </a:r>
            <a:r>
              <a:rPr lang="fr-FR" dirty="0"/>
              <a:t> protection </a:t>
            </a:r>
            <a:r>
              <a:rPr lang="fr-FR" dirty="0" err="1"/>
              <a:t>features</a:t>
            </a:r>
            <a:r>
              <a:rPr lang="fr-FR" dirty="0"/>
              <a:t> and </a:t>
            </a:r>
            <a:r>
              <a:rPr lang="fr-FR" dirty="0" err="1"/>
              <a:t>provide</a:t>
            </a:r>
            <a:r>
              <a:rPr lang="fr-FR" dirty="0"/>
              <a:t> </a:t>
            </a:r>
            <a:r>
              <a:rPr lang="fr-FR" dirty="0" err="1"/>
              <a:t>feature</a:t>
            </a:r>
            <a:r>
              <a:rPr lang="fr-FR" dirty="0"/>
              <a:t> importance information for </a:t>
            </a:r>
            <a:r>
              <a:rPr lang="fr-FR" dirty="0" err="1"/>
              <a:t>explainability</a:t>
            </a:r>
            <a:r>
              <a:rPr lang="fr-FR" dirty="0"/>
              <a:t>. </a:t>
            </a:r>
          </a:p>
          <a:p>
            <a:r>
              <a:rPr lang="fr-FR" dirty="0"/>
              <a:t>The second model </a:t>
            </a:r>
            <a:r>
              <a:rPr lang="fr-FR" dirty="0" err="1"/>
              <a:t>family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shallow</a:t>
            </a:r>
            <a:r>
              <a:rPr lang="fr-FR" dirty="0"/>
              <a:t> MLP </a:t>
            </a:r>
            <a:r>
              <a:rPr lang="fr-FR" dirty="0" err="1"/>
              <a:t>using</a:t>
            </a:r>
            <a:r>
              <a:rPr lang="fr-FR" dirty="0"/>
              <a:t> the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engineered</a:t>
            </a:r>
            <a:r>
              <a:rPr lang="fr-FR" dirty="0"/>
              <a:t> </a:t>
            </a:r>
            <a:r>
              <a:rPr lang="fr-FR" dirty="0" err="1"/>
              <a:t>features</a:t>
            </a:r>
            <a:r>
              <a:rPr lang="fr-FR" dirty="0"/>
              <a:t>. </a:t>
            </a:r>
          </a:p>
          <a:p>
            <a:r>
              <a:rPr lang="fr-FR" dirty="0"/>
              <a:t>The MLP </a:t>
            </a:r>
            <a:r>
              <a:rPr lang="fr-FR" dirty="0" err="1"/>
              <a:t>introduces</a:t>
            </a:r>
            <a:r>
              <a:rPr lang="fr-FR" dirty="0"/>
              <a:t> </a:t>
            </a:r>
            <a:r>
              <a:rPr lang="fr-FR" dirty="0" err="1"/>
              <a:t>nonlinear</a:t>
            </a:r>
            <a:r>
              <a:rPr lang="fr-FR" dirty="0"/>
              <a:t>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boundaries</a:t>
            </a:r>
            <a:r>
              <a:rPr lang="fr-FR" dirty="0"/>
              <a:t> </a:t>
            </a:r>
            <a:r>
              <a:rPr lang="fr-FR" dirty="0" err="1"/>
              <a:t>while</a:t>
            </a:r>
            <a:r>
              <a:rPr lang="fr-FR" dirty="0"/>
              <a:t> </a:t>
            </a:r>
            <a:r>
              <a:rPr lang="fr-FR" dirty="0" err="1"/>
              <a:t>remaining</a:t>
            </a:r>
            <a:r>
              <a:rPr lang="fr-FR" dirty="0"/>
              <a:t> </a:t>
            </a:r>
            <a:r>
              <a:rPr lang="fr-FR" dirty="0" err="1"/>
              <a:t>computationally</a:t>
            </a:r>
            <a:r>
              <a:rPr lang="fr-FR" dirty="0"/>
              <a:t> </a:t>
            </a:r>
            <a:r>
              <a:rPr lang="fr-FR" dirty="0" err="1"/>
              <a:t>manageable</a:t>
            </a:r>
            <a:r>
              <a:rPr lang="fr-FR" dirty="0"/>
              <a:t>. </a:t>
            </a:r>
          </a:p>
          <a:p>
            <a:r>
              <a:rPr lang="fr-FR" b="1" dirty="0"/>
              <a:t>Advanced </a:t>
            </a:r>
            <a:r>
              <a:rPr lang="fr-FR" b="1" dirty="0" err="1"/>
              <a:t>Models</a:t>
            </a:r>
            <a:endParaRPr lang="fr-FR" b="1" dirty="0"/>
          </a:p>
          <a:p>
            <a:r>
              <a:rPr lang="fr-FR" dirty="0" err="1"/>
              <a:t>After</a:t>
            </a:r>
            <a:r>
              <a:rPr lang="fr-FR" dirty="0"/>
              <a:t> the </a:t>
            </a:r>
            <a:r>
              <a:rPr lang="fr-FR" dirty="0" err="1"/>
              <a:t>framework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working</a:t>
            </a:r>
            <a:r>
              <a:rPr lang="fr-FR" dirty="0"/>
              <a:t>, I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investigate</a:t>
            </a:r>
            <a:r>
              <a:rPr lang="fr-FR" dirty="0"/>
              <a:t> more </a:t>
            </a:r>
            <a:r>
              <a:rPr lang="fr-FR" dirty="0" err="1"/>
              <a:t>advanced</a:t>
            </a:r>
            <a:r>
              <a:rPr lang="fr-FR" dirty="0"/>
              <a:t> architectures. </a:t>
            </a:r>
          </a:p>
          <a:p>
            <a:r>
              <a:rPr lang="fr-FR" dirty="0"/>
              <a:t>A 1D-CNN </a:t>
            </a:r>
            <a:r>
              <a:rPr lang="fr-FR" dirty="0" err="1"/>
              <a:t>will</a:t>
            </a:r>
            <a:r>
              <a:rPr lang="fr-FR" dirty="0"/>
              <a:t> process </a:t>
            </a:r>
            <a:r>
              <a:rPr lang="fr-FR" dirty="0" err="1"/>
              <a:t>windows</a:t>
            </a:r>
            <a:r>
              <a:rPr lang="fr-FR" dirty="0"/>
              <a:t> of </a:t>
            </a:r>
            <a:r>
              <a:rPr lang="fr-FR" dirty="0" err="1"/>
              <a:t>current</a:t>
            </a:r>
            <a:r>
              <a:rPr lang="fr-FR" dirty="0"/>
              <a:t> and voltage </a:t>
            </a:r>
            <a:r>
              <a:rPr lang="fr-FR" dirty="0" err="1"/>
              <a:t>signals</a:t>
            </a:r>
            <a:r>
              <a:rPr lang="fr-FR" dirty="0"/>
              <a:t> </a:t>
            </a:r>
            <a:r>
              <a:rPr lang="fr-FR" dirty="0" err="1"/>
              <a:t>directly</a:t>
            </a:r>
            <a:r>
              <a:rPr lang="fr-FR" dirty="0"/>
              <a:t> and </a:t>
            </a:r>
            <a:r>
              <a:rPr lang="fr-FR" dirty="0" err="1"/>
              <a:t>learn</a:t>
            </a:r>
            <a:r>
              <a:rPr lang="fr-FR" dirty="0"/>
              <a:t> local transient patterns. </a:t>
            </a:r>
          </a:p>
          <a:p>
            <a:r>
              <a:rPr lang="fr-FR" dirty="0"/>
              <a:t>CNN-LSTM or CNN-GRU architectures combine </a:t>
            </a:r>
            <a:r>
              <a:rPr lang="fr-FR" dirty="0" err="1"/>
              <a:t>learned</a:t>
            </a:r>
            <a:r>
              <a:rPr lang="fr-FR" dirty="0"/>
              <a:t> signal </a:t>
            </a:r>
            <a:r>
              <a:rPr lang="fr-FR" dirty="0" err="1"/>
              <a:t>features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temporal modeling. </a:t>
            </a:r>
          </a:p>
          <a:p>
            <a:r>
              <a:rPr lang="fr-FR" dirty="0" err="1"/>
              <a:t>These</a:t>
            </a:r>
            <a:r>
              <a:rPr lang="fr-FR" dirty="0"/>
              <a:t> architectures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particularly</a:t>
            </a:r>
            <a:r>
              <a:rPr lang="fr-FR" dirty="0"/>
              <a:t> </a:t>
            </a:r>
            <a:r>
              <a:rPr lang="fr-FR" dirty="0" err="1"/>
              <a:t>useful</a:t>
            </a:r>
            <a:r>
              <a:rPr lang="fr-FR" dirty="0"/>
              <a:t> for </a:t>
            </a:r>
            <a:r>
              <a:rPr lang="fr-FR" dirty="0" err="1"/>
              <a:t>evolving</a:t>
            </a:r>
            <a:r>
              <a:rPr lang="fr-FR" dirty="0"/>
              <a:t> </a:t>
            </a:r>
            <a:r>
              <a:rPr lang="fr-FR" dirty="0" err="1"/>
              <a:t>faults</a:t>
            </a:r>
            <a:r>
              <a:rPr lang="fr-FR" dirty="0"/>
              <a:t> or </a:t>
            </a:r>
            <a:r>
              <a:rPr lang="fr-FR" dirty="0" err="1"/>
              <a:t>systems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dynamic</a:t>
            </a:r>
            <a:r>
              <a:rPr lang="fr-FR" dirty="0"/>
              <a:t> </a:t>
            </a:r>
            <a:r>
              <a:rPr lang="fr-FR" dirty="0" err="1"/>
              <a:t>inverter</a:t>
            </a:r>
            <a:r>
              <a:rPr lang="fr-FR" dirty="0"/>
              <a:t> </a:t>
            </a:r>
            <a:r>
              <a:rPr lang="fr-FR" dirty="0" err="1"/>
              <a:t>behavior</a:t>
            </a:r>
            <a:r>
              <a:rPr lang="fr-FR" dirty="0"/>
              <a:t>. </a:t>
            </a:r>
          </a:p>
          <a:p>
            <a:r>
              <a:rPr lang="fr-FR" dirty="0"/>
              <a:t>I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evaluate</a:t>
            </a:r>
            <a:r>
              <a:rPr lang="fr-FR" dirty="0"/>
              <a:t> pure LSTM or GRU </a:t>
            </a:r>
            <a:r>
              <a:rPr lang="fr-FR" dirty="0" err="1"/>
              <a:t>models</a:t>
            </a:r>
            <a:r>
              <a:rPr lang="fr-FR" dirty="0"/>
              <a:t> to </a:t>
            </a:r>
            <a:r>
              <a:rPr lang="fr-FR" dirty="0" err="1"/>
              <a:t>study</a:t>
            </a:r>
            <a:r>
              <a:rPr lang="fr-FR" dirty="0"/>
              <a:t> the value of explicit temporal information. </a:t>
            </a:r>
          </a:p>
          <a:p>
            <a:r>
              <a:rPr lang="fr-FR" b="1" dirty="0" err="1"/>
              <a:t>Strategy</a:t>
            </a:r>
            <a:endParaRPr lang="fr-FR" b="1" dirty="0"/>
          </a:p>
          <a:p>
            <a:r>
              <a:rPr lang="fr-FR" dirty="0"/>
              <a:t>The goal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simply</a:t>
            </a:r>
            <a:r>
              <a:rPr lang="fr-FR" dirty="0"/>
              <a:t> to use the </a:t>
            </a:r>
            <a:r>
              <a:rPr lang="fr-FR" dirty="0" err="1"/>
              <a:t>most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model. </a:t>
            </a:r>
          </a:p>
          <a:p>
            <a:r>
              <a:rPr lang="fr-FR" dirty="0" err="1"/>
              <a:t>Instead</a:t>
            </a:r>
            <a:r>
              <a:rPr lang="fr-FR" dirty="0"/>
              <a:t>, I </a:t>
            </a:r>
            <a:r>
              <a:rPr lang="fr-FR" dirty="0" err="1"/>
              <a:t>want</a:t>
            </a:r>
            <a:r>
              <a:rPr lang="fr-FR" dirty="0"/>
              <a:t> to </a:t>
            </a:r>
            <a:r>
              <a:rPr lang="fr-FR" dirty="0" err="1"/>
              <a:t>understand</a:t>
            </a:r>
            <a:r>
              <a:rPr lang="fr-FR" dirty="0"/>
              <a:t> the </a:t>
            </a:r>
            <a:r>
              <a:rPr lang="fr-FR" dirty="0" err="1"/>
              <a:t>trade</a:t>
            </a:r>
            <a:r>
              <a:rPr lang="fr-FR" dirty="0"/>
              <a:t>-off </a:t>
            </a:r>
            <a:r>
              <a:rPr lang="fr-FR" dirty="0" err="1"/>
              <a:t>between</a:t>
            </a:r>
            <a:r>
              <a:rPr lang="fr-FR" dirty="0"/>
              <a:t> performance, </a:t>
            </a:r>
            <a:r>
              <a:rPr lang="fr-FR" dirty="0" err="1"/>
              <a:t>explainability</a:t>
            </a:r>
            <a:r>
              <a:rPr lang="fr-FR" dirty="0"/>
              <a:t>, and </a:t>
            </a:r>
            <a:r>
              <a:rPr lang="fr-FR" dirty="0" err="1"/>
              <a:t>computational</a:t>
            </a:r>
            <a:r>
              <a:rPr lang="fr-FR" dirty="0"/>
              <a:t> </a:t>
            </a:r>
            <a:r>
              <a:rPr lang="fr-FR" dirty="0" err="1"/>
              <a:t>requirements</a:t>
            </a:r>
            <a:r>
              <a:rPr lang="fr-FR" dirty="0"/>
              <a:t>. Auto encouder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1A539-4B63-428F-BF4B-2FDCB0814AA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5136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err="1"/>
              <a:t>Features</a:t>
            </a:r>
            <a:endParaRPr lang="fr-FR" b="1" dirty="0"/>
          </a:p>
          <a:p>
            <a:r>
              <a:rPr lang="fr-FR" dirty="0"/>
              <a:t>The </a:t>
            </a:r>
            <a:r>
              <a:rPr lang="fr-FR" dirty="0" err="1"/>
              <a:t>feature</a:t>
            </a:r>
            <a:r>
              <a:rPr lang="fr-FR" dirty="0"/>
              <a:t> set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on </a:t>
            </a:r>
            <a:r>
              <a:rPr lang="fr-FR" dirty="0" err="1"/>
              <a:t>quantities</a:t>
            </a:r>
            <a:r>
              <a:rPr lang="fr-FR" dirty="0"/>
              <a:t> </a:t>
            </a:r>
            <a:r>
              <a:rPr lang="fr-FR" dirty="0" err="1"/>
              <a:t>commonly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in protection and </a:t>
            </a:r>
            <a:r>
              <a:rPr lang="fr-FR" dirty="0" err="1"/>
              <a:t>reported</a:t>
            </a:r>
            <a:r>
              <a:rPr lang="fr-FR" dirty="0"/>
              <a:t> in the </a:t>
            </a:r>
            <a:r>
              <a:rPr lang="fr-FR" dirty="0" err="1"/>
              <a:t>literature</a:t>
            </a:r>
            <a:r>
              <a:rPr lang="fr-FR" dirty="0"/>
              <a:t>. </a:t>
            </a:r>
          </a:p>
          <a:p>
            <a:r>
              <a:rPr lang="fr-FR" dirty="0"/>
              <a:t>RMS </a:t>
            </a:r>
            <a:r>
              <a:rPr lang="fr-FR" dirty="0" err="1"/>
              <a:t>currents</a:t>
            </a:r>
            <a:r>
              <a:rPr lang="fr-FR" dirty="0"/>
              <a:t> and voltages </a:t>
            </a:r>
            <a:r>
              <a:rPr lang="fr-FR" dirty="0" err="1"/>
              <a:t>provide</a:t>
            </a:r>
            <a:r>
              <a:rPr lang="fr-FR" dirty="0"/>
              <a:t> information about </a:t>
            </a:r>
            <a:r>
              <a:rPr lang="fr-FR" dirty="0" err="1"/>
              <a:t>fault</a:t>
            </a:r>
            <a:r>
              <a:rPr lang="fr-FR" dirty="0"/>
              <a:t> magnitude and operating conditions. </a:t>
            </a:r>
          </a:p>
          <a:p>
            <a:r>
              <a:rPr lang="fr-FR" dirty="0"/>
              <a:t>Positive-, </a:t>
            </a:r>
            <a:r>
              <a:rPr lang="fr-FR" dirty="0" err="1"/>
              <a:t>negative</a:t>
            </a:r>
            <a:r>
              <a:rPr lang="fr-FR" dirty="0"/>
              <a:t>-, and </a:t>
            </a:r>
            <a:r>
              <a:rPr lang="fr-FR" dirty="0" err="1"/>
              <a:t>zero-sequence</a:t>
            </a:r>
            <a:r>
              <a:rPr lang="fr-FR" dirty="0"/>
              <a:t> components capture </a:t>
            </a:r>
            <a:r>
              <a:rPr lang="fr-FR" dirty="0" err="1"/>
              <a:t>fault</a:t>
            </a:r>
            <a:r>
              <a:rPr lang="fr-FR" dirty="0"/>
              <a:t> </a:t>
            </a:r>
            <a:r>
              <a:rPr lang="fr-FR" dirty="0" err="1"/>
              <a:t>asymmetry</a:t>
            </a:r>
            <a:r>
              <a:rPr lang="fr-FR" dirty="0"/>
              <a:t> and </a:t>
            </a:r>
            <a:r>
              <a:rPr lang="fr-FR" dirty="0" err="1"/>
              <a:t>unbalanced</a:t>
            </a:r>
            <a:r>
              <a:rPr lang="fr-FR" dirty="0"/>
              <a:t> conditions. </a:t>
            </a:r>
          </a:p>
          <a:p>
            <a:r>
              <a:rPr lang="fr-FR" dirty="0"/>
              <a:t>Apparent </a:t>
            </a:r>
            <a:r>
              <a:rPr lang="fr-FR" dirty="0" err="1"/>
              <a:t>impedance</a:t>
            </a:r>
            <a:r>
              <a:rPr lang="fr-FR" dirty="0"/>
              <a:t> and distance-like </a:t>
            </a:r>
            <a:r>
              <a:rPr lang="fr-FR" dirty="0" err="1"/>
              <a:t>quantities</a:t>
            </a:r>
            <a:r>
              <a:rPr lang="fr-FR" dirty="0"/>
              <a:t> relate </a:t>
            </a:r>
            <a:r>
              <a:rPr lang="fr-FR" dirty="0" err="1"/>
              <a:t>directly</a:t>
            </a:r>
            <a:r>
              <a:rPr lang="fr-FR" dirty="0"/>
              <a:t> to </a:t>
            </a:r>
            <a:r>
              <a:rPr lang="fr-FR" dirty="0" err="1"/>
              <a:t>traditional</a:t>
            </a:r>
            <a:r>
              <a:rPr lang="fr-FR" dirty="0"/>
              <a:t> protection concepts. </a:t>
            </a:r>
          </a:p>
          <a:p>
            <a:r>
              <a:rPr lang="fr-FR" dirty="0"/>
              <a:t>Frequency, </a:t>
            </a:r>
            <a:r>
              <a:rPr lang="fr-FR" dirty="0" err="1"/>
              <a:t>RoCoF</a:t>
            </a:r>
            <a:r>
              <a:rPr lang="fr-FR" dirty="0"/>
              <a:t>, </a:t>
            </a:r>
            <a:r>
              <a:rPr lang="fr-FR" dirty="0" err="1"/>
              <a:t>dI</a:t>
            </a:r>
            <a:r>
              <a:rPr lang="fr-FR" dirty="0"/>
              <a:t>/</a:t>
            </a:r>
            <a:r>
              <a:rPr lang="fr-FR" dirty="0" err="1"/>
              <a:t>dt</a:t>
            </a:r>
            <a:r>
              <a:rPr lang="fr-FR" dirty="0"/>
              <a:t>, and </a:t>
            </a:r>
            <a:r>
              <a:rPr lang="fr-FR" dirty="0" err="1"/>
              <a:t>dV</a:t>
            </a:r>
            <a:r>
              <a:rPr lang="fr-FR" dirty="0"/>
              <a:t>/</a:t>
            </a:r>
            <a:r>
              <a:rPr lang="fr-FR" dirty="0" err="1"/>
              <a:t>dt</a:t>
            </a:r>
            <a:r>
              <a:rPr lang="fr-FR" dirty="0"/>
              <a:t> capture </a:t>
            </a:r>
            <a:r>
              <a:rPr lang="fr-FR" dirty="0" err="1"/>
              <a:t>dynamic</a:t>
            </a:r>
            <a:r>
              <a:rPr lang="fr-FR" dirty="0"/>
              <a:t> </a:t>
            </a:r>
            <a:r>
              <a:rPr lang="fr-FR" dirty="0" err="1"/>
              <a:t>behavior</a:t>
            </a:r>
            <a:r>
              <a:rPr lang="fr-FR" dirty="0"/>
              <a:t> and transient </a:t>
            </a:r>
            <a:r>
              <a:rPr lang="fr-FR" dirty="0" err="1"/>
              <a:t>events</a:t>
            </a:r>
            <a:r>
              <a:rPr lang="fr-FR" dirty="0"/>
              <a:t>. </a:t>
            </a:r>
          </a:p>
          <a:p>
            <a:r>
              <a:rPr lang="fr-FR" dirty="0" err="1"/>
              <a:t>Harmonic</a:t>
            </a:r>
            <a:r>
              <a:rPr lang="fr-FR" dirty="0"/>
              <a:t> and THD </a:t>
            </a:r>
            <a:r>
              <a:rPr lang="fr-FR" dirty="0" err="1"/>
              <a:t>indicators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particularly</a:t>
            </a:r>
            <a:r>
              <a:rPr lang="fr-FR" dirty="0"/>
              <a:t> </a:t>
            </a:r>
            <a:r>
              <a:rPr lang="fr-FR" dirty="0" err="1"/>
              <a:t>useful</a:t>
            </a:r>
            <a:r>
              <a:rPr lang="fr-FR" dirty="0"/>
              <a:t> in </a:t>
            </a:r>
            <a:r>
              <a:rPr lang="fr-FR" dirty="0" err="1"/>
              <a:t>inverter-dominated</a:t>
            </a:r>
            <a:r>
              <a:rPr lang="fr-FR" dirty="0"/>
              <a:t> </a:t>
            </a:r>
            <a:r>
              <a:rPr lang="fr-FR" dirty="0" err="1"/>
              <a:t>systems</a:t>
            </a:r>
            <a:r>
              <a:rPr lang="fr-FR" dirty="0"/>
              <a:t> and high-</a:t>
            </a:r>
            <a:r>
              <a:rPr lang="fr-FR" dirty="0" err="1"/>
              <a:t>impedance</a:t>
            </a:r>
            <a:r>
              <a:rPr lang="fr-FR" dirty="0"/>
              <a:t> </a:t>
            </a:r>
            <a:r>
              <a:rPr lang="fr-FR" dirty="0" err="1"/>
              <a:t>fault</a:t>
            </a:r>
            <a:r>
              <a:rPr lang="fr-FR" dirty="0"/>
              <a:t> scenarios. </a:t>
            </a:r>
          </a:p>
          <a:p>
            <a:r>
              <a:rPr lang="fr-FR" b="1" dirty="0"/>
              <a:t>Data </a:t>
            </a:r>
            <a:r>
              <a:rPr lang="fr-FR" b="1" dirty="0" err="1"/>
              <a:t>Strategy</a:t>
            </a:r>
            <a:endParaRPr lang="fr-FR" b="1" dirty="0"/>
          </a:p>
          <a:p>
            <a:r>
              <a:rPr lang="fr-FR" dirty="0"/>
              <a:t>I </a:t>
            </a:r>
            <a:r>
              <a:rPr lang="fr-FR" dirty="0" err="1"/>
              <a:t>will</a:t>
            </a:r>
            <a:r>
              <a:rPr lang="fr-FR" dirty="0"/>
              <a:t> first </a:t>
            </a:r>
            <a:r>
              <a:rPr lang="fr-FR" dirty="0" err="1"/>
              <a:t>investigate</a:t>
            </a:r>
            <a:r>
              <a:rPr lang="fr-FR" dirty="0"/>
              <a:t> the </a:t>
            </a:r>
            <a:r>
              <a:rPr lang="fr-FR" dirty="0" err="1"/>
              <a:t>availability</a:t>
            </a:r>
            <a:r>
              <a:rPr lang="fr-FR" dirty="0"/>
              <a:t> of real or </a:t>
            </a:r>
            <a:r>
              <a:rPr lang="fr-FR" dirty="0" err="1"/>
              <a:t>recorded</a:t>
            </a:r>
            <a:r>
              <a:rPr lang="fr-FR" dirty="0"/>
              <a:t> </a:t>
            </a:r>
            <a:r>
              <a:rPr lang="fr-FR" dirty="0" err="1"/>
              <a:t>relay</a:t>
            </a:r>
            <a:r>
              <a:rPr lang="fr-FR" dirty="0"/>
              <a:t> </a:t>
            </a:r>
            <a:r>
              <a:rPr lang="fr-FR" dirty="0" err="1"/>
              <a:t>event</a:t>
            </a:r>
            <a:r>
              <a:rPr lang="fr-FR" dirty="0"/>
              <a:t> data. </a:t>
            </a:r>
          </a:p>
          <a:p>
            <a:r>
              <a:rPr lang="fr-FR" dirty="0"/>
              <a:t>Real data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especially</a:t>
            </a:r>
            <a:r>
              <a:rPr lang="fr-FR" dirty="0"/>
              <a:t> </a:t>
            </a:r>
            <a:r>
              <a:rPr lang="fr-FR" dirty="0" err="1"/>
              <a:t>valuable</a:t>
            </a:r>
            <a:r>
              <a:rPr lang="fr-FR" dirty="0"/>
              <a:t> for </a:t>
            </a:r>
            <a:r>
              <a:rPr lang="fr-FR" dirty="0" err="1"/>
              <a:t>testing</a:t>
            </a:r>
            <a:r>
              <a:rPr lang="fr-FR" dirty="0"/>
              <a:t> and </a:t>
            </a:r>
            <a:r>
              <a:rPr lang="fr-FR" dirty="0" err="1"/>
              <a:t>assessing</a:t>
            </a:r>
            <a:r>
              <a:rPr lang="fr-FR" dirty="0"/>
              <a:t> </a:t>
            </a:r>
            <a:r>
              <a:rPr lang="fr-FR" dirty="0" err="1"/>
              <a:t>practical</a:t>
            </a:r>
            <a:r>
              <a:rPr lang="fr-FR" dirty="0"/>
              <a:t> </a:t>
            </a:r>
            <a:r>
              <a:rPr lang="fr-FR" dirty="0" err="1"/>
              <a:t>generalization</a:t>
            </a:r>
            <a:r>
              <a:rPr lang="fr-FR" dirty="0"/>
              <a:t>. </a:t>
            </a:r>
          </a:p>
          <a:p>
            <a:r>
              <a:rPr lang="fr-FR" dirty="0"/>
              <a:t>If data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limited</a:t>
            </a:r>
            <a:r>
              <a:rPr lang="fr-FR" dirty="0"/>
              <a:t>, I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create</a:t>
            </a:r>
            <a:r>
              <a:rPr lang="fr-FR" dirty="0"/>
              <a:t> a simulation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covering</a:t>
            </a:r>
            <a:r>
              <a:rPr lang="fr-FR" dirty="0"/>
              <a:t> a </a:t>
            </a:r>
            <a:r>
              <a:rPr lang="fr-FR" dirty="0" err="1"/>
              <a:t>wide</a:t>
            </a:r>
            <a:r>
              <a:rPr lang="fr-FR" dirty="0"/>
              <a:t> range of </a:t>
            </a:r>
            <a:r>
              <a:rPr lang="fr-FR" dirty="0" err="1"/>
              <a:t>fault</a:t>
            </a:r>
            <a:r>
              <a:rPr lang="fr-FR" dirty="0"/>
              <a:t> conditions. </a:t>
            </a:r>
          </a:p>
          <a:p>
            <a:r>
              <a:rPr lang="fr-FR" dirty="0"/>
              <a:t>The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vary</a:t>
            </a:r>
            <a:r>
              <a:rPr lang="fr-FR" dirty="0"/>
              <a:t> </a:t>
            </a:r>
            <a:r>
              <a:rPr lang="fr-FR" dirty="0" err="1"/>
              <a:t>fault</a:t>
            </a:r>
            <a:r>
              <a:rPr lang="fr-FR" dirty="0"/>
              <a:t> locations, </a:t>
            </a:r>
            <a:r>
              <a:rPr lang="fr-FR" dirty="0" err="1"/>
              <a:t>fault</a:t>
            </a:r>
            <a:r>
              <a:rPr lang="fr-FR" dirty="0"/>
              <a:t> </a:t>
            </a:r>
            <a:r>
              <a:rPr lang="fr-FR" dirty="0" err="1"/>
              <a:t>impedances</a:t>
            </a:r>
            <a:r>
              <a:rPr lang="fr-FR" dirty="0"/>
              <a:t>, operating conditions, and DER </a:t>
            </a:r>
            <a:r>
              <a:rPr lang="fr-FR" dirty="0" err="1"/>
              <a:t>penetration</a:t>
            </a:r>
            <a:r>
              <a:rPr lang="fr-FR" dirty="0"/>
              <a:t> </a:t>
            </a:r>
            <a:r>
              <a:rPr lang="fr-FR" dirty="0" err="1"/>
              <a:t>levels</a:t>
            </a:r>
            <a:r>
              <a:rPr lang="fr-FR" dirty="0"/>
              <a:t>. </a:t>
            </a:r>
          </a:p>
          <a:p>
            <a:r>
              <a:rPr lang="fr-FR" dirty="0" err="1"/>
              <a:t>Finally</a:t>
            </a:r>
            <a:r>
              <a:rPr lang="fr-FR" dirty="0"/>
              <a:t>, </a:t>
            </a:r>
            <a:r>
              <a:rPr lang="fr-FR" dirty="0" err="1"/>
              <a:t>laboratory</a:t>
            </a:r>
            <a:r>
              <a:rPr lang="fr-FR" dirty="0"/>
              <a:t> or HIL </a:t>
            </a:r>
            <a:r>
              <a:rPr lang="fr-FR" dirty="0" err="1"/>
              <a:t>testing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to expose the best model to real-time </a:t>
            </a:r>
            <a:r>
              <a:rPr lang="fr-FR" dirty="0" err="1"/>
              <a:t>signals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1A539-4B63-428F-BF4B-2FDCB0814AA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4746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err="1"/>
              <a:t>Comparison</a:t>
            </a:r>
            <a:r>
              <a:rPr lang="fr-FR" b="1" dirty="0"/>
              <a:t> Against Baseline</a:t>
            </a:r>
          </a:p>
          <a:p>
            <a:r>
              <a:rPr lang="fr-FR" dirty="0"/>
              <a:t>All ML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compared</a:t>
            </a:r>
            <a:r>
              <a:rPr lang="fr-FR" dirty="0"/>
              <a:t> </a:t>
            </a:r>
            <a:r>
              <a:rPr lang="fr-FR" dirty="0" err="1"/>
              <a:t>against</a:t>
            </a:r>
            <a:r>
              <a:rPr lang="fr-FR" dirty="0"/>
              <a:t> a </a:t>
            </a:r>
            <a:r>
              <a:rPr lang="fr-FR" dirty="0" err="1"/>
              <a:t>properly</a:t>
            </a:r>
            <a:r>
              <a:rPr lang="fr-FR" dirty="0"/>
              <a:t> </a:t>
            </a:r>
            <a:r>
              <a:rPr lang="fr-FR" dirty="0" err="1"/>
              <a:t>tuned</a:t>
            </a:r>
            <a:r>
              <a:rPr lang="fr-FR" dirty="0"/>
              <a:t> </a:t>
            </a:r>
            <a:r>
              <a:rPr lang="fr-FR" dirty="0" err="1"/>
              <a:t>conventional</a:t>
            </a:r>
            <a:r>
              <a:rPr lang="fr-FR" dirty="0"/>
              <a:t> </a:t>
            </a:r>
            <a:r>
              <a:rPr lang="fr-FR" dirty="0" err="1"/>
              <a:t>baseline</a:t>
            </a:r>
            <a:r>
              <a:rPr lang="fr-FR" dirty="0"/>
              <a:t> </a:t>
            </a:r>
            <a:r>
              <a:rPr lang="fr-FR" dirty="0" err="1"/>
              <a:t>relay</a:t>
            </a:r>
            <a:r>
              <a:rPr lang="fr-FR" dirty="0"/>
              <a:t>. </a:t>
            </a:r>
          </a:p>
          <a:p>
            <a:r>
              <a:rPr lang="fr-FR" dirty="0"/>
              <a:t>The </a:t>
            </a:r>
            <a:r>
              <a:rPr lang="fr-FR" dirty="0" err="1"/>
              <a:t>baseline</a:t>
            </a:r>
            <a:r>
              <a:rPr lang="fr-FR" dirty="0"/>
              <a:t>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an </a:t>
            </a:r>
            <a:r>
              <a:rPr lang="fr-FR" dirty="0" err="1"/>
              <a:t>overcurrent</a:t>
            </a:r>
            <a:r>
              <a:rPr lang="fr-FR" dirty="0"/>
              <a:t> </a:t>
            </a:r>
            <a:r>
              <a:rPr lang="fr-FR" dirty="0" err="1"/>
              <a:t>relay</a:t>
            </a:r>
            <a:r>
              <a:rPr lang="fr-FR" dirty="0"/>
              <a:t>, distance </a:t>
            </a:r>
            <a:r>
              <a:rPr lang="fr-FR" dirty="0" err="1"/>
              <a:t>relay</a:t>
            </a:r>
            <a:r>
              <a:rPr lang="fr-FR" dirty="0"/>
              <a:t>, or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suitable</a:t>
            </a:r>
            <a:r>
              <a:rPr lang="fr-FR" dirty="0"/>
              <a:t> protection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depending</a:t>
            </a:r>
            <a:r>
              <a:rPr lang="fr-FR" dirty="0"/>
              <a:t> on the </a:t>
            </a:r>
            <a:r>
              <a:rPr lang="fr-FR" dirty="0" err="1"/>
              <a:t>target</a:t>
            </a:r>
            <a:r>
              <a:rPr lang="fr-FR" dirty="0"/>
              <a:t> </a:t>
            </a:r>
            <a:r>
              <a:rPr lang="fr-FR" dirty="0" err="1"/>
              <a:t>fault</a:t>
            </a:r>
            <a:r>
              <a:rPr lang="fr-FR" dirty="0"/>
              <a:t> </a:t>
            </a:r>
            <a:r>
              <a:rPr lang="fr-FR" dirty="0" err="1"/>
              <a:t>regime</a:t>
            </a:r>
            <a:r>
              <a:rPr lang="fr-FR" dirty="0"/>
              <a:t>. </a:t>
            </a:r>
          </a:p>
          <a:p>
            <a:r>
              <a:rPr lang="fr-FR" dirty="0"/>
              <a:t>The objective </a:t>
            </a:r>
            <a:r>
              <a:rPr lang="fr-FR" dirty="0" err="1"/>
              <a:t>is</a:t>
            </a:r>
            <a:r>
              <a:rPr lang="fr-FR" dirty="0"/>
              <a:t> to </a:t>
            </a:r>
            <a:r>
              <a:rPr lang="fr-FR" dirty="0" err="1"/>
              <a:t>determine</a:t>
            </a:r>
            <a:r>
              <a:rPr lang="fr-FR" dirty="0"/>
              <a:t> </a:t>
            </a:r>
            <a:r>
              <a:rPr lang="fr-FR" dirty="0" err="1"/>
              <a:t>whether</a:t>
            </a:r>
            <a:r>
              <a:rPr lang="fr-FR" dirty="0"/>
              <a:t> </a:t>
            </a:r>
            <a:r>
              <a:rPr lang="fr-FR" dirty="0" err="1"/>
              <a:t>learning-based</a:t>
            </a:r>
            <a:r>
              <a:rPr lang="fr-FR" dirty="0"/>
              <a:t> protection </a:t>
            </a:r>
            <a:r>
              <a:rPr lang="fr-FR" dirty="0" err="1"/>
              <a:t>offers</a:t>
            </a:r>
            <a:r>
              <a:rPr lang="fr-FR" dirty="0"/>
              <a:t> </a:t>
            </a:r>
            <a:r>
              <a:rPr lang="fr-FR" dirty="0" err="1"/>
              <a:t>measurable</a:t>
            </a:r>
            <a:r>
              <a:rPr lang="fr-FR" dirty="0"/>
              <a:t> </a:t>
            </a:r>
            <a:r>
              <a:rPr lang="fr-FR" dirty="0" err="1"/>
              <a:t>improvements</a:t>
            </a:r>
            <a:r>
              <a:rPr lang="fr-FR" dirty="0"/>
              <a:t>. </a:t>
            </a:r>
          </a:p>
          <a:p>
            <a:r>
              <a:rPr lang="fr-FR" b="1" dirty="0"/>
              <a:t>Protection </a:t>
            </a:r>
            <a:r>
              <a:rPr lang="fr-FR" b="1" dirty="0" err="1"/>
              <a:t>Metrics</a:t>
            </a:r>
            <a:endParaRPr lang="fr-FR" b="1" dirty="0"/>
          </a:p>
          <a:p>
            <a:r>
              <a:rPr lang="fr-FR" dirty="0" err="1"/>
              <a:t>Dependability</a:t>
            </a:r>
            <a:r>
              <a:rPr lang="fr-FR" dirty="0"/>
              <a:t> </a:t>
            </a:r>
            <a:r>
              <a:rPr lang="fr-FR" dirty="0" err="1"/>
              <a:t>measures</a:t>
            </a:r>
            <a:r>
              <a:rPr lang="fr-FR" dirty="0"/>
              <a:t> how </a:t>
            </a:r>
            <a:r>
              <a:rPr lang="fr-FR" dirty="0" err="1"/>
              <a:t>reliably</a:t>
            </a:r>
            <a:r>
              <a:rPr lang="fr-FR" dirty="0"/>
              <a:t> </a:t>
            </a:r>
            <a:r>
              <a:rPr lang="fr-FR" dirty="0" err="1"/>
              <a:t>faults</a:t>
            </a:r>
            <a:r>
              <a:rPr lang="fr-FR" dirty="0"/>
              <a:t> are </a:t>
            </a:r>
            <a:r>
              <a:rPr lang="fr-FR" dirty="0" err="1"/>
              <a:t>detected</a:t>
            </a:r>
            <a:r>
              <a:rPr lang="fr-FR" dirty="0"/>
              <a:t> and </a:t>
            </a:r>
            <a:r>
              <a:rPr lang="fr-FR" dirty="0" err="1"/>
              <a:t>tripped</a:t>
            </a:r>
            <a:r>
              <a:rPr lang="fr-FR" dirty="0"/>
              <a:t>. </a:t>
            </a:r>
          </a:p>
          <a:p>
            <a:r>
              <a:rPr lang="fr-FR" dirty="0"/>
              <a:t>Security </a:t>
            </a:r>
            <a:r>
              <a:rPr lang="fr-FR" dirty="0" err="1"/>
              <a:t>measures</a:t>
            </a:r>
            <a:r>
              <a:rPr lang="fr-FR" dirty="0"/>
              <a:t> how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unnecessary</a:t>
            </a:r>
            <a:r>
              <a:rPr lang="fr-FR" dirty="0"/>
              <a:t> trips are </a:t>
            </a:r>
            <a:r>
              <a:rPr lang="fr-FR" dirty="0" err="1"/>
              <a:t>avoided</a:t>
            </a:r>
            <a:r>
              <a:rPr lang="fr-FR" dirty="0"/>
              <a:t>. </a:t>
            </a:r>
          </a:p>
          <a:p>
            <a:r>
              <a:rPr lang="fr-FR" dirty="0" err="1"/>
              <a:t>Selectivity</a:t>
            </a:r>
            <a:r>
              <a:rPr lang="fr-FR" dirty="0"/>
              <a:t> </a:t>
            </a:r>
            <a:r>
              <a:rPr lang="fr-FR" dirty="0" err="1"/>
              <a:t>evaluates</a:t>
            </a:r>
            <a:r>
              <a:rPr lang="fr-FR" dirty="0"/>
              <a:t> </a:t>
            </a:r>
            <a:r>
              <a:rPr lang="fr-FR" dirty="0" err="1"/>
              <a:t>whether</a:t>
            </a:r>
            <a:r>
              <a:rPr lang="fr-FR" dirty="0"/>
              <a:t> the correct protection zone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identified</a:t>
            </a:r>
            <a:r>
              <a:rPr lang="fr-FR" dirty="0"/>
              <a:t>. </a:t>
            </a:r>
          </a:p>
          <a:p>
            <a:r>
              <a:rPr lang="fr-FR" dirty="0"/>
              <a:t>Operating time </a:t>
            </a:r>
            <a:r>
              <a:rPr lang="fr-FR" dirty="0" err="1"/>
              <a:t>measures</a:t>
            </a:r>
            <a:r>
              <a:rPr lang="fr-FR" dirty="0"/>
              <a:t> the </a:t>
            </a:r>
            <a:r>
              <a:rPr lang="fr-FR" dirty="0" err="1"/>
              <a:t>delay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fault</a:t>
            </a:r>
            <a:r>
              <a:rPr lang="fr-FR" dirty="0"/>
              <a:t> occurrence and trip </a:t>
            </a:r>
            <a:r>
              <a:rPr lang="fr-FR" dirty="0" err="1"/>
              <a:t>decision</a:t>
            </a:r>
            <a:r>
              <a:rPr lang="fr-FR" dirty="0"/>
              <a:t>. </a:t>
            </a:r>
          </a:p>
          <a:p>
            <a:r>
              <a:rPr lang="fr-FR" dirty="0" err="1"/>
              <a:t>Sensitivity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particularly</a:t>
            </a:r>
            <a:r>
              <a:rPr lang="fr-FR" dirty="0"/>
              <a:t> important for </a:t>
            </a:r>
            <a:r>
              <a:rPr lang="fr-FR" dirty="0" err="1"/>
              <a:t>weak</a:t>
            </a:r>
            <a:r>
              <a:rPr lang="fr-FR" dirty="0"/>
              <a:t> or high-</a:t>
            </a:r>
            <a:r>
              <a:rPr lang="fr-FR" dirty="0" err="1"/>
              <a:t>impedance</a:t>
            </a:r>
            <a:r>
              <a:rPr lang="fr-FR" dirty="0"/>
              <a:t> </a:t>
            </a:r>
            <a:r>
              <a:rPr lang="fr-FR" dirty="0" err="1"/>
              <a:t>faults</a:t>
            </a:r>
            <a:r>
              <a:rPr lang="fr-FR" dirty="0"/>
              <a:t>. </a:t>
            </a:r>
          </a:p>
          <a:p>
            <a:r>
              <a:rPr lang="fr-FR" dirty="0" err="1"/>
              <a:t>Misoperation</a:t>
            </a:r>
            <a:r>
              <a:rPr lang="fr-FR" dirty="0"/>
              <a:t> rate </a:t>
            </a:r>
            <a:r>
              <a:rPr lang="fr-FR" dirty="0" err="1"/>
              <a:t>summarizes</a:t>
            </a:r>
            <a:r>
              <a:rPr lang="fr-FR" dirty="0"/>
              <a:t> </a:t>
            </a:r>
            <a:r>
              <a:rPr lang="fr-FR" dirty="0" err="1"/>
              <a:t>overall</a:t>
            </a:r>
            <a:r>
              <a:rPr lang="fr-FR" dirty="0"/>
              <a:t> incorrect </a:t>
            </a:r>
            <a:r>
              <a:rPr lang="fr-FR" dirty="0" err="1"/>
              <a:t>decisions</a:t>
            </a:r>
            <a:r>
              <a:rPr lang="fr-FR" dirty="0"/>
              <a:t>. </a:t>
            </a:r>
          </a:p>
          <a:p>
            <a:r>
              <a:rPr lang="fr-FR" dirty="0" err="1"/>
              <a:t>Inference</a:t>
            </a:r>
            <a:r>
              <a:rPr lang="fr-FR" dirty="0"/>
              <a:t> </a:t>
            </a:r>
            <a:r>
              <a:rPr lang="fr-FR" dirty="0" err="1"/>
              <a:t>latency</a:t>
            </a:r>
            <a:r>
              <a:rPr lang="fr-FR" dirty="0"/>
              <a:t> </a:t>
            </a:r>
            <a:r>
              <a:rPr lang="fr-FR" dirty="0" err="1"/>
              <a:t>evaluates</a:t>
            </a:r>
            <a:r>
              <a:rPr lang="fr-FR" dirty="0"/>
              <a:t> </a:t>
            </a:r>
            <a:r>
              <a:rPr lang="fr-FR" dirty="0" err="1"/>
              <a:t>computational</a:t>
            </a:r>
            <a:r>
              <a:rPr lang="fr-FR" dirty="0"/>
              <a:t> </a:t>
            </a:r>
            <a:r>
              <a:rPr lang="fr-FR" dirty="0" err="1"/>
              <a:t>feasibility</a:t>
            </a:r>
            <a:r>
              <a:rPr lang="fr-FR" dirty="0"/>
              <a:t> for </a:t>
            </a:r>
            <a:r>
              <a:rPr lang="fr-FR" dirty="0" err="1"/>
              <a:t>practical</a:t>
            </a:r>
            <a:r>
              <a:rPr lang="fr-FR" dirty="0"/>
              <a:t> </a:t>
            </a:r>
            <a:r>
              <a:rPr lang="fr-FR" dirty="0" err="1"/>
              <a:t>deployment</a:t>
            </a:r>
            <a:r>
              <a:rPr lang="fr-FR" dirty="0"/>
              <a:t>. </a:t>
            </a:r>
          </a:p>
          <a:p>
            <a:r>
              <a:rPr lang="fr-FR" b="1" dirty="0"/>
              <a:t>Strict </a:t>
            </a:r>
            <a:r>
              <a:rPr lang="fr-FR" b="1" dirty="0" err="1"/>
              <a:t>Generalization</a:t>
            </a:r>
            <a:endParaRPr lang="fr-FR" b="1" dirty="0"/>
          </a:p>
          <a:p>
            <a:r>
              <a:rPr lang="fr-FR" dirty="0"/>
              <a:t>A key </a:t>
            </a:r>
            <a:r>
              <a:rPr lang="fr-FR" dirty="0" err="1"/>
              <a:t>requirement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strict </a:t>
            </a:r>
            <a:r>
              <a:rPr lang="fr-FR" dirty="0" err="1"/>
              <a:t>generalization</a:t>
            </a:r>
            <a:r>
              <a:rPr lang="fr-FR" dirty="0"/>
              <a:t> </a:t>
            </a:r>
            <a:r>
              <a:rPr lang="fr-FR" dirty="0" err="1"/>
              <a:t>testing</a:t>
            </a:r>
            <a:r>
              <a:rPr lang="fr-FR" dirty="0"/>
              <a:t>. </a:t>
            </a:r>
          </a:p>
          <a:p>
            <a:r>
              <a:rPr lang="fr-FR" dirty="0"/>
              <a:t>Some </a:t>
            </a:r>
            <a:r>
              <a:rPr lang="fr-FR" dirty="0" err="1"/>
              <a:t>fault</a:t>
            </a:r>
            <a:r>
              <a:rPr lang="fr-FR" dirty="0"/>
              <a:t> locations and </a:t>
            </a:r>
            <a:r>
              <a:rPr lang="fr-FR" dirty="0" err="1"/>
              <a:t>fault</a:t>
            </a:r>
            <a:r>
              <a:rPr lang="fr-FR" dirty="0"/>
              <a:t> </a:t>
            </a:r>
            <a:r>
              <a:rPr lang="fr-FR" dirty="0" err="1"/>
              <a:t>impedances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completely</a:t>
            </a:r>
            <a:r>
              <a:rPr lang="fr-FR" dirty="0"/>
              <a:t> </a:t>
            </a:r>
            <a:r>
              <a:rPr lang="fr-FR" dirty="0" err="1"/>
              <a:t>excluded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training. </a:t>
            </a:r>
          </a:p>
          <a:p>
            <a:r>
              <a:rPr lang="fr-FR" dirty="0"/>
              <a:t>This </a:t>
            </a:r>
            <a:r>
              <a:rPr lang="fr-FR" dirty="0" err="1"/>
              <a:t>ensures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performance </a:t>
            </a:r>
            <a:r>
              <a:rPr lang="fr-FR" dirty="0" err="1"/>
              <a:t>reflects</a:t>
            </a:r>
            <a:r>
              <a:rPr lang="fr-FR" dirty="0"/>
              <a:t> </a:t>
            </a:r>
            <a:r>
              <a:rPr lang="fr-FR" dirty="0" err="1"/>
              <a:t>genuine</a:t>
            </a:r>
            <a:r>
              <a:rPr lang="fr-FR" dirty="0"/>
              <a:t> </a:t>
            </a:r>
            <a:r>
              <a:rPr lang="fr-FR" dirty="0" err="1"/>
              <a:t>learning</a:t>
            </a:r>
            <a:r>
              <a:rPr lang="fr-FR" dirty="0"/>
              <a:t> </a:t>
            </a:r>
            <a:r>
              <a:rPr lang="fr-FR" dirty="0" err="1"/>
              <a:t>rather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memorization</a:t>
            </a:r>
            <a:r>
              <a:rPr lang="fr-FR" dirty="0"/>
              <a:t>. </a:t>
            </a:r>
          </a:p>
          <a:p>
            <a:r>
              <a:rPr lang="fr-FR" b="1" dirty="0" err="1"/>
              <a:t>Explainability</a:t>
            </a:r>
            <a:endParaRPr lang="fr-FR" b="1" dirty="0"/>
          </a:p>
          <a:p>
            <a:r>
              <a:rPr lang="fr-FR" dirty="0"/>
              <a:t>For </a:t>
            </a:r>
            <a:r>
              <a:rPr lang="fr-FR" dirty="0" err="1"/>
              <a:t>tree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, I </a:t>
            </a:r>
            <a:r>
              <a:rPr lang="fr-FR" dirty="0" err="1"/>
              <a:t>will</a:t>
            </a:r>
            <a:r>
              <a:rPr lang="fr-FR" dirty="0"/>
              <a:t> use </a:t>
            </a:r>
            <a:r>
              <a:rPr lang="fr-FR" dirty="0" err="1"/>
              <a:t>feature</a:t>
            </a:r>
            <a:r>
              <a:rPr lang="fr-FR" dirty="0"/>
              <a:t> importance and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path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. </a:t>
            </a:r>
          </a:p>
          <a:p>
            <a:r>
              <a:rPr lang="fr-FR" dirty="0"/>
              <a:t>For neural-network </a:t>
            </a:r>
            <a:r>
              <a:rPr lang="fr-FR" dirty="0" err="1"/>
              <a:t>models</a:t>
            </a:r>
            <a:r>
              <a:rPr lang="fr-FR" dirty="0"/>
              <a:t>, I </a:t>
            </a:r>
            <a:r>
              <a:rPr lang="fr-FR" dirty="0" err="1"/>
              <a:t>will</a:t>
            </a:r>
            <a:r>
              <a:rPr lang="fr-FR" dirty="0"/>
              <a:t> use SHAP values, </a:t>
            </a:r>
            <a:r>
              <a:rPr lang="fr-FR" dirty="0" err="1"/>
              <a:t>feature</a:t>
            </a:r>
            <a:r>
              <a:rPr lang="fr-FR" dirty="0"/>
              <a:t> attribution </a:t>
            </a:r>
            <a:r>
              <a:rPr lang="fr-FR" dirty="0" err="1"/>
              <a:t>methods</a:t>
            </a:r>
            <a:r>
              <a:rPr lang="fr-FR" dirty="0"/>
              <a:t>, and time-</a:t>
            </a:r>
            <a:r>
              <a:rPr lang="fr-FR" dirty="0" err="1"/>
              <a:t>series</a:t>
            </a:r>
            <a:r>
              <a:rPr lang="fr-FR" dirty="0"/>
              <a:t> </a:t>
            </a:r>
            <a:r>
              <a:rPr lang="fr-FR" dirty="0" err="1"/>
              <a:t>saliency</a:t>
            </a:r>
            <a:r>
              <a:rPr lang="fr-FR" dirty="0"/>
              <a:t> techniques. </a:t>
            </a:r>
          </a:p>
          <a:p>
            <a:r>
              <a:rPr lang="fr-FR" dirty="0"/>
              <a:t>The </a:t>
            </a:r>
            <a:r>
              <a:rPr lang="fr-FR" dirty="0" err="1"/>
              <a:t>explanations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always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interpreted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physical</a:t>
            </a:r>
            <a:r>
              <a:rPr lang="fr-FR" dirty="0"/>
              <a:t> protection </a:t>
            </a:r>
            <a:r>
              <a:rPr lang="fr-FR" dirty="0" err="1"/>
              <a:t>quantities</a:t>
            </a:r>
            <a:r>
              <a:rPr lang="fr-FR" dirty="0"/>
              <a:t>. </a:t>
            </a:r>
          </a:p>
          <a:p>
            <a:r>
              <a:rPr lang="fr-FR" dirty="0"/>
              <a:t>The goal </a:t>
            </a:r>
            <a:r>
              <a:rPr lang="fr-FR" dirty="0" err="1"/>
              <a:t>is</a:t>
            </a:r>
            <a:r>
              <a:rPr lang="fr-FR" dirty="0"/>
              <a:t> to show </a:t>
            </a:r>
            <a:r>
              <a:rPr lang="fr-FR" dirty="0" err="1"/>
              <a:t>that</a:t>
            </a:r>
            <a:r>
              <a:rPr lang="fr-FR" dirty="0"/>
              <a:t> the model </a:t>
            </a:r>
            <a:r>
              <a:rPr lang="fr-FR" dirty="0" err="1"/>
              <a:t>responds</a:t>
            </a:r>
            <a:r>
              <a:rPr lang="fr-FR" dirty="0"/>
              <a:t> to </a:t>
            </a:r>
            <a:r>
              <a:rPr lang="fr-FR" dirty="0" err="1"/>
              <a:t>meaningful</a:t>
            </a:r>
            <a:r>
              <a:rPr lang="fr-FR" dirty="0"/>
              <a:t> </a:t>
            </a:r>
            <a:r>
              <a:rPr lang="fr-FR" dirty="0" err="1"/>
              <a:t>electrical</a:t>
            </a:r>
            <a:r>
              <a:rPr lang="fr-FR" dirty="0"/>
              <a:t> </a:t>
            </a:r>
            <a:r>
              <a:rPr lang="fr-FR" dirty="0" err="1"/>
              <a:t>behavior</a:t>
            </a:r>
            <a:r>
              <a:rPr lang="fr-FR" dirty="0"/>
              <a:t> </a:t>
            </a:r>
            <a:r>
              <a:rPr lang="fr-FR" dirty="0" err="1"/>
              <a:t>rather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simulation-</a:t>
            </a:r>
            <a:r>
              <a:rPr lang="fr-FR" dirty="0" err="1"/>
              <a:t>specific</a:t>
            </a:r>
            <a:r>
              <a:rPr lang="fr-FR" dirty="0"/>
              <a:t> patterns.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1A539-4B63-428F-BF4B-2FDCB0814AA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4455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39B13D-E523-DA77-5765-54F3D1C4E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A7C9F0-486F-46CB-2DC2-E49F3F4C6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74FBF1-78A9-8A8B-1A5D-A8B65A01F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70F7-342A-48F4-8494-130669246F10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17A35A-8E0D-86A2-4A18-574E2830B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F66AE8-F774-EA47-14E6-F7DAF66B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63A97-096F-42F8-B7AB-04853CEECA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179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32F0F9-73BF-E46F-468C-5FE3A527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5AB42B-9754-7800-206E-F2F8D6F7B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EE55FB-3371-930D-6604-86D096B6E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70F7-342A-48F4-8494-130669246F10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3D1CFE-2DC8-5C23-014F-9325DB57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D3DC04-2853-EE2D-78F3-584615574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63A97-096F-42F8-B7AB-04853CEECA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38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7F7175-E7F9-4632-BA17-A48EA18FE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16ABE0-B031-E443-AF73-BB88EAE98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C4EC98-3F76-DB1F-EE6E-07D48B07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70F7-342A-48F4-8494-130669246F10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E3482A-865B-5818-B428-35BD8C1F6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7E3A6E-7198-2E78-4AEA-5166D29A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63A97-096F-42F8-B7AB-04853CEECA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634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AB7CBB-2C2B-4698-FA66-C35A8C315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D13F76-599C-EBFF-5BC4-80E0AEE4C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B5A373-C084-DBD5-60A7-0D0E46EAB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F7A864-3CD9-C6AD-ED48-C9E65E4C0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70F7-342A-48F4-8494-130669246F10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458734-EE89-D532-AE11-49D24897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A186AEC-D1A9-DBD2-B7E7-3554C407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63A97-096F-42F8-B7AB-04853CEECA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9785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CF968-C204-9E13-5525-A7FC5467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CC6CE9-82ED-090A-30B9-078473441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D2D0078-F92F-FD4D-EA01-7383E9158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29A3D7D-97FC-6733-A654-D7D2841C7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436325B-EB77-1725-6620-0D7BDF6024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DD47E8F-9A98-E1AB-F673-951B604CF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70F7-342A-48F4-8494-130669246F10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15A5E69-AC2B-EC65-14A9-28BF8C6E1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67D7600-C042-15CA-356E-4E408B82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63A97-096F-42F8-B7AB-04853CEECA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125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CBDCB9-F206-F78D-E33C-F8C66434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9DFA810-1DCF-6FDB-BF1E-E1773A1DF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70F7-342A-48F4-8494-130669246F10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FD04BF5-24D1-FCAC-0395-DCBF3D2E4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390D99-4B6D-A2FD-3208-4C62A2F1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63A97-096F-42F8-B7AB-04853CEECA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824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AEAAB43-1C4F-CA0E-1CF8-5553D9BA5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70F7-342A-48F4-8494-130669246F10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EBD3CB0-53D3-BE45-55F4-1E1D6B96E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A3533F-BB93-50DC-1E41-70D28060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63A97-096F-42F8-B7AB-04853CEECA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920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4FEA46-740E-42F7-9410-DA97B7425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9B9FA2-8B15-17F0-FB68-A4082D600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0387A39-F198-FD65-1E79-3484E1C80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F95EB9-E831-1F57-FF96-CD86C973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70F7-342A-48F4-8494-130669246F10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BD7E04-6E7E-0E1D-E286-BDA16F63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14745A-1977-3178-EEA3-36631770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63A97-096F-42F8-B7AB-04853CEECA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317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B22FBD-6578-0FE2-4602-A1DABD063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440F150-0641-6D65-E3E6-DCBE1EC399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3F9775-5E24-7BF5-9C7A-0E3F73370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C91C6F-B999-EB57-8286-4D3068788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70F7-342A-48F4-8494-130669246F10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1952F3-5BE2-9581-D9F2-832E1CC1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DEFB52-FEDD-BCAC-BBEE-79D3310FE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63A97-096F-42F8-B7AB-04853CEECA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3705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B108E9-B4A7-FA1E-1CCF-5712022CF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5EA52F-F224-A2F0-ED92-449046ADF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06E2DE-FE51-021F-88F0-D1D4DA98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70F7-342A-48F4-8494-130669246F10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7AF10D-C133-FC74-5216-91E98411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57BE9C-F283-9B94-A4EC-EFC2B9DD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63A97-096F-42F8-B7AB-04853CEECA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5272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41D844C-0531-984D-5FD4-BA1744DF2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C59B606-B47A-7ABF-FF93-9AB269328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11874F-C52D-EB05-2B27-DEC9978CA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E70F7-342A-48F4-8494-130669246F10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0D1CD4-2132-3835-C42A-21626F0B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93DACD-C96C-C4DB-561C-D7A3F3D8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63A97-096F-42F8-B7AB-04853CEECA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38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D8A47FF-5068-5F7F-4A8C-12F8B1539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7FEFC4-5005-1C51-981E-B4B3E062D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08B1A0-032F-D569-0379-B29369096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E70F7-342A-48F4-8494-130669246F10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5768EF-0DB6-D77E-2C62-5CD508C85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3F1A97-1B94-AC95-7468-E9CA410C3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63A97-096F-42F8-B7AB-04853CEECA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214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48EE8-1FD9-CDB0-29C2-75BE5AF0AC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Explainable</a:t>
            </a:r>
            <a:r>
              <a:rPr lang="fr-FR" dirty="0"/>
              <a:t> ML-Learning‑Based Protection – </a:t>
            </a:r>
            <a:r>
              <a:rPr lang="fr-FR" dirty="0" err="1"/>
              <a:t>Strategy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B27938B-2634-96F7-8C97-F1C9C4190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85380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fr-FR" u="sng" dirty="0"/>
              <a:t>Goal </a:t>
            </a:r>
            <a:r>
              <a:rPr lang="fr-FR" u="sng" dirty="0" err="1"/>
              <a:t>today</a:t>
            </a:r>
            <a:r>
              <a:rPr lang="fr-FR" u="sng" dirty="0"/>
              <a:t>:</a:t>
            </a:r>
            <a:r>
              <a:rPr lang="fr-FR" dirty="0"/>
              <a:t> show </a:t>
            </a:r>
            <a:r>
              <a:rPr lang="fr-FR" b="1" dirty="0" err="1"/>
              <a:t>my</a:t>
            </a:r>
            <a:r>
              <a:rPr lang="fr-FR" b="1" dirty="0"/>
              <a:t> plan</a:t>
            </a:r>
            <a:r>
              <a:rPr lang="fr-FR" dirty="0"/>
              <a:t> (</a:t>
            </a:r>
            <a:r>
              <a:rPr lang="fr-FR" dirty="0" err="1"/>
              <a:t>reading</a:t>
            </a:r>
            <a:r>
              <a:rPr lang="fr-FR" dirty="0"/>
              <a:t>, </a:t>
            </a:r>
            <a:r>
              <a:rPr lang="fr-FR" dirty="0" err="1"/>
              <a:t>models</a:t>
            </a:r>
            <a:r>
              <a:rPr lang="fr-FR" dirty="0"/>
              <a:t>, data, </a:t>
            </a:r>
            <a:r>
              <a:rPr lang="fr-FR" dirty="0" err="1"/>
              <a:t>lab</a:t>
            </a:r>
            <a:r>
              <a:rPr lang="fr-FR" dirty="0"/>
              <a:t> tests, </a:t>
            </a:r>
            <a:r>
              <a:rPr lang="fr-FR" dirty="0" err="1"/>
              <a:t>writing</a:t>
            </a:r>
            <a:r>
              <a:rPr lang="fr-FR" dirty="0"/>
              <a:t>)</a:t>
            </a:r>
          </a:p>
          <a:p>
            <a:pPr algn="l"/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777758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788966-F4DE-0FE0-57A1-7C970983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Overall workflow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76847A-9428-B94C-40CE-970388558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2900" b="1" dirty="0">
                <a:solidFill>
                  <a:srgbClr val="0070C0"/>
                </a:solidFill>
              </a:rPr>
              <a:t>Read &amp; design</a:t>
            </a:r>
            <a:endParaRPr lang="fr-FR" sz="2900" dirty="0">
              <a:solidFill>
                <a:srgbClr val="0070C0"/>
              </a:solidFill>
            </a:endParaRPr>
          </a:p>
          <a:p>
            <a:pPr lvl="1"/>
            <a:r>
              <a:rPr lang="fr-FR" sz="2900" dirty="0"/>
              <a:t>Read </a:t>
            </a:r>
            <a:r>
              <a:rPr lang="fr-FR" sz="2900" i="1" dirty="0"/>
              <a:t>Power System </a:t>
            </a:r>
            <a:r>
              <a:rPr lang="fr-FR" sz="2900" i="1" dirty="0" err="1"/>
              <a:t>Relaying</a:t>
            </a:r>
            <a:r>
              <a:rPr lang="fr-FR" sz="2900" dirty="0"/>
              <a:t> and ML‑for‑protection </a:t>
            </a:r>
            <a:r>
              <a:rPr lang="fr-FR" sz="2900" dirty="0" err="1"/>
              <a:t>reviews</a:t>
            </a:r>
            <a:r>
              <a:rPr lang="fr-FR" sz="2900" dirty="0"/>
              <a:t>…</a:t>
            </a:r>
          </a:p>
          <a:p>
            <a:pPr lvl="1"/>
            <a:r>
              <a:rPr lang="fr-FR" sz="2900" dirty="0"/>
              <a:t>Fix </a:t>
            </a:r>
            <a:r>
              <a:rPr lang="fr-FR" sz="2900" dirty="0" err="1"/>
              <a:t>target</a:t>
            </a:r>
            <a:r>
              <a:rPr lang="fr-FR" sz="2900" dirty="0"/>
              <a:t> </a:t>
            </a:r>
            <a:r>
              <a:rPr lang="fr-FR" sz="2900" dirty="0" err="1"/>
              <a:t>fault</a:t>
            </a:r>
            <a:r>
              <a:rPr lang="fr-FR" sz="2900" dirty="0"/>
              <a:t> </a:t>
            </a:r>
            <a:r>
              <a:rPr lang="fr-FR" sz="2900" dirty="0" err="1"/>
              <a:t>regime</a:t>
            </a:r>
            <a:r>
              <a:rPr lang="fr-FR" sz="2900" dirty="0"/>
              <a:t> + </a:t>
            </a:r>
            <a:r>
              <a:rPr lang="fr-FR" sz="2900" dirty="0" err="1"/>
              <a:t>conventional</a:t>
            </a:r>
            <a:r>
              <a:rPr lang="fr-FR" sz="2900" dirty="0"/>
              <a:t> </a:t>
            </a:r>
            <a:r>
              <a:rPr lang="fr-FR" sz="2900" dirty="0" err="1"/>
              <a:t>baseline</a:t>
            </a:r>
            <a:r>
              <a:rPr lang="fr-FR" sz="2900" dirty="0"/>
              <a:t> </a:t>
            </a:r>
            <a:r>
              <a:rPr lang="fr-FR" sz="2900" dirty="0" err="1"/>
              <a:t>relay</a:t>
            </a:r>
            <a:endParaRPr lang="fr-FR" sz="2900" dirty="0"/>
          </a:p>
          <a:p>
            <a:pPr lvl="1"/>
            <a:r>
              <a:rPr lang="fr-FR" sz="2900" dirty="0" err="1"/>
              <a:t>Decide</a:t>
            </a:r>
            <a:r>
              <a:rPr lang="fr-FR" sz="2900" dirty="0"/>
              <a:t> </a:t>
            </a:r>
            <a:r>
              <a:rPr lang="fr-FR" sz="2900" dirty="0" err="1"/>
              <a:t>features</a:t>
            </a:r>
            <a:r>
              <a:rPr lang="fr-FR" sz="2900" dirty="0"/>
              <a:t> and model </a:t>
            </a:r>
            <a:r>
              <a:rPr lang="fr-FR" sz="2900" dirty="0" err="1"/>
              <a:t>families</a:t>
            </a:r>
            <a:endParaRPr lang="fr-FR" sz="2900" dirty="0"/>
          </a:p>
          <a:p>
            <a:r>
              <a:rPr lang="fr-FR" sz="2900" b="1" dirty="0">
                <a:solidFill>
                  <a:srgbClr val="0070C0"/>
                </a:solidFill>
              </a:rPr>
              <a:t>Code </a:t>
            </a:r>
            <a:r>
              <a:rPr lang="fr-FR" sz="2900" b="1" dirty="0" err="1">
                <a:solidFill>
                  <a:srgbClr val="0070C0"/>
                </a:solidFill>
              </a:rPr>
              <a:t>framework</a:t>
            </a:r>
            <a:endParaRPr lang="fr-FR" sz="2900" dirty="0">
              <a:solidFill>
                <a:srgbClr val="0070C0"/>
              </a:solidFill>
            </a:endParaRPr>
          </a:p>
          <a:p>
            <a:pPr lvl="1"/>
            <a:r>
              <a:rPr lang="fr-FR" sz="2900" dirty="0"/>
              <a:t>Python </a:t>
            </a:r>
            <a:r>
              <a:rPr lang="fr-FR" sz="2900" dirty="0" err="1"/>
              <a:t>project</a:t>
            </a:r>
            <a:r>
              <a:rPr lang="fr-FR" sz="2900" dirty="0"/>
              <a:t> </a:t>
            </a:r>
            <a:r>
              <a:rPr lang="fr-FR" sz="2900" dirty="0" err="1"/>
              <a:t>with</a:t>
            </a:r>
            <a:r>
              <a:rPr lang="fr-FR" sz="2900" dirty="0"/>
              <a:t> modules for data, </a:t>
            </a:r>
            <a:r>
              <a:rPr lang="fr-FR" sz="2900" dirty="0" err="1"/>
              <a:t>features</a:t>
            </a:r>
            <a:r>
              <a:rPr lang="fr-FR" sz="2900" dirty="0"/>
              <a:t>, </a:t>
            </a:r>
            <a:r>
              <a:rPr lang="fr-FR" sz="2900" dirty="0" err="1"/>
              <a:t>models</a:t>
            </a:r>
            <a:r>
              <a:rPr lang="fr-FR" sz="2900" dirty="0"/>
              <a:t>, training/</a:t>
            </a:r>
            <a:r>
              <a:rPr lang="fr-FR" sz="2900" dirty="0" err="1"/>
              <a:t>evaluation</a:t>
            </a:r>
            <a:endParaRPr lang="fr-FR" sz="2900" dirty="0"/>
          </a:p>
          <a:p>
            <a:r>
              <a:rPr lang="fr-FR" sz="2900" b="1" dirty="0" err="1">
                <a:solidFill>
                  <a:srgbClr val="0070C0"/>
                </a:solidFill>
              </a:rPr>
              <a:t>Get</a:t>
            </a:r>
            <a:r>
              <a:rPr lang="fr-FR" sz="2900" b="1" dirty="0">
                <a:solidFill>
                  <a:srgbClr val="0070C0"/>
                </a:solidFill>
              </a:rPr>
              <a:t> data</a:t>
            </a:r>
            <a:endParaRPr lang="fr-FR" sz="2900" dirty="0">
              <a:solidFill>
                <a:srgbClr val="0070C0"/>
              </a:solidFill>
            </a:endParaRPr>
          </a:p>
          <a:p>
            <a:pPr lvl="1"/>
            <a:r>
              <a:rPr lang="fr-FR" sz="2900" dirty="0"/>
              <a:t>First: check for real / </a:t>
            </a:r>
            <a:r>
              <a:rPr lang="fr-FR" sz="2900" dirty="0" err="1"/>
              <a:t>recorded</a:t>
            </a:r>
            <a:r>
              <a:rPr lang="fr-FR" sz="2900" dirty="0"/>
              <a:t> </a:t>
            </a:r>
            <a:r>
              <a:rPr lang="fr-FR" sz="2900" dirty="0" err="1"/>
              <a:t>relay</a:t>
            </a:r>
            <a:r>
              <a:rPr lang="fr-FR" sz="2900" dirty="0"/>
              <a:t> data</a:t>
            </a:r>
          </a:p>
          <a:p>
            <a:pPr lvl="1"/>
            <a:r>
              <a:rPr lang="fr-FR" sz="2900" dirty="0"/>
              <a:t>If not </a:t>
            </a:r>
            <a:r>
              <a:rPr lang="fr-FR" sz="2900" dirty="0" err="1"/>
              <a:t>enough</a:t>
            </a:r>
            <a:r>
              <a:rPr lang="fr-FR" sz="2900" dirty="0"/>
              <a:t>: </a:t>
            </a:r>
            <a:r>
              <a:rPr lang="fr-FR" sz="2900" dirty="0" err="1"/>
              <a:t>create</a:t>
            </a:r>
            <a:r>
              <a:rPr lang="fr-FR" sz="2900" dirty="0"/>
              <a:t> simulation </a:t>
            </a:r>
            <a:r>
              <a:rPr lang="fr-FR" sz="2900" dirty="0" err="1"/>
              <a:t>dataset</a:t>
            </a:r>
            <a:r>
              <a:rPr lang="fr-FR" sz="2900" dirty="0"/>
              <a:t> on a </a:t>
            </a:r>
            <a:r>
              <a:rPr lang="fr-FR" sz="2900" dirty="0" err="1"/>
              <a:t>defined</a:t>
            </a:r>
            <a:r>
              <a:rPr lang="fr-FR" sz="2900" dirty="0"/>
              <a:t> test system</a:t>
            </a:r>
          </a:p>
          <a:p>
            <a:r>
              <a:rPr lang="fr-FR" sz="2900" b="1" dirty="0">
                <a:solidFill>
                  <a:srgbClr val="0070C0"/>
                </a:solidFill>
              </a:rPr>
              <a:t>Train, test, </a:t>
            </a:r>
            <a:r>
              <a:rPr lang="fr-FR" sz="2900" b="1" dirty="0" err="1">
                <a:solidFill>
                  <a:srgbClr val="0070C0"/>
                </a:solidFill>
              </a:rPr>
              <a:t>lab</a:t>
            </a:r>
            <a:endParaRPr lang="fr-FR" sz="2900" dirty="0">
              <a:solidFill>
                <a:srgbClr val="0070C0"/>
              </a:solidFill>
            </a:endParaRPr>
          </a:p>
          <a:p>
            <a:pPr lvl="1"/>
            <a:r>
              <a:rPr lang="fr-FR" sz="2900" dirty="0"/>
              <a:t>Train and compare </a:t>
            </a:r>
            <a:r>
              <a:rPr lang="fr-FR" sz="2900" dirty="0" err="1"/>
              <a:t>models</a:t>
            </a:r>
            <a:r>
              <a:rPr lang="fr-FR" sz="2900" dirty="0"/>
              <a:t> vs </a:t>
            </a:r>
            <a:r>
              <a:rPr lang="fr-FR" sz="2900" dirty="0" err="1"/>
              <a:t>baseline</a:t>
            </a:r>
            <a:r>
              <a:rPr lang="fr-FR" sz="2900" dirty="0"/>
              <a:t> </a:t>
            </a:r>
            <a:r>
              <a:rPr lang="fr-FR" sz="2900" dirty="0" err="1"/>
              <a:t>using</a:t>
            </a:r>
            <a:r>
              <a:rPr lang="fr-FR" sz="2900" dirty="0"/>
              <a:t> protection </a:t>
            </a:r>
            <a:r>
              <a:rPr lang="fr-FR" sz="2900" dirty="0" err="1"/>
              <a:t>metrics</a:t>
            </a:r>
            <a:endParaRPr lang="fr-FR" sz="2900" dirty="0"/>
          </a:p>
          <a:p>
            <a:pPr lvl="1"/>
            <a:r>
              <a:rPr lang="fr-FR" sz="2900" dirty="0" err="1"/>
              <a:t>Validate</a:t>
            </a:r>
            <a:r>
              <a:rPr lang="fr-FR" sz="2900" dirty="0"/>
              <a:t> best model in </a:t>
            </a:r>
            <a:r>
              <a:rPr lang="fr-FR" sz="2900" dirty="0" err="1"/>
              <a:t>lab</a:t>
            </a:r>
            <a:r>
              <a:rPr lang="fr-FR" sz="2900" dirty="0"/>
              <a:t> / HIL setup (real‑time </a:t>
            </a:r>
            <a:r>
              <a:rPr lang="fr-FR" sz="2900" dirty="0" err="1"/>
              <a:t>signals</a:t>
            </a:r>
            <a:r>
              <a:rPr lang="fr-FR" sz="2900" dirty="0"/>
              <a:t>, </a:t>
            </a:r>
            <a:r>
              <a:rPr lang="fr-FR" sz="2900" dirty="0" err="1"/>
              <a:t>latency</a:t>
            </a:r>
            <a:r>
              <a:rPr lang="fr-FR" sz="2900" dirty="0"/>
              <a:t>)</a:t>
            </a:r>
          </a:p>
          <a:p>
            <a:pPr marL="0" indent="0">
              <a:buNone/>
            </a:pPr>
            <a:br>
              <a:rPr lang="fr-FR" dirty="0"/>
            </a:b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1517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284249-EDED-389E-E1B5-3742CB5C4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 </a:t>
            </a:r>
            <a:r>
              <a:rPr lang="fr-FR" dirty="0" err="1"/>
              <a:t>strategy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6D0690-FEEE-ADEE-4F75-0400E8CAE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b="1" dirty="0">
                <a:solidFill>
                  <a:srgbClr val="0070C0"/>
                </a:solidFill>
              </a:rPr>
              <a:t>Core </a:t>
            </a:r>
            <a:r>
              <a:rPr lang="fr-FR" sz="2000" b="1" dirty="0" err="1">
                <a:solidFill>
                  <a:srgbClr val="0070C0"/>
                </a:solidFill>
              </a:rPr>
              <a:t>models</a:t>
            </a:r>
            <a:r>
              <a:rPr lang="fr-FR" sz="2000" b="1" dirty="0">
                <a:solidFill>
                  <a:srgbClr val="0070C0"/>
                </a:solidFill>
              </a:rPr>
              <a:t> (first):</a:t>
            </a:r>
            <a:endParaRPr lang="fr-FR" sz="2000" dirty="0">
              <a:solidFill>
                <a:srgbClr val="0070C0"/>
              </a:solidFill>
            </a:endParaRPr>
          </a:p>
          <a:p>
            <a:pPr lvl="1"/>
            <a:r>
              <a:rPr lang="fr-FR" sz="2000" b="1" dirty="0"/>
              <a:t>Tree‑</a:t>
            </a:r>
            <a:r>
              <a:rPr lang="fr-FR" sz="2000" b="1" dirty="0" err="1"/>
              <a:t>based</a:t>
            </a:r>
            <a:r>
              <a:rPr lang="fr-FR" sz="2000" b="1" dirty="0"/>
              <a:t> ensemble</a:t>
            </a:r>
            <a:r>
              <a:rPr lang="fr-FR" sz="2000" dirty="0"/>
              <a:t> (Random Forest / Gradient </a:t>
            </a:r>
            <a:r>
              <a:rPr lang="fr-FR" sz="2000" dirty="0" err="1"/>
              <a:t>Boosting</a:t>
            </a:r>
            <a:r>
              <a:rPr lang="fr-FR" sz="2000" dirty="0"/>
              <a:t>)</a:t>
            </a:r>
          </a:p>
          <a:p>
            <a:pPr lvl="2"/>
            <a:r>
              <a:rPr lang="fr-FR" dirty="0"/>
              <a:t>On </a:t>
            </a:r>
            <a:r>
              <a:rPr lang="fr-FR" dirty="0" err="1"/>
              <a:t>engineered</a:t>
            </a:r>
            <a:r>
              <a:rPr lang="fr-FR" dirty="0"/>
              <a:t> protection </a:t>
            </a:r>
            <a:r>
              <a:rPr lang="fr-FR" dirty="0" err="1"/>
              <a:t>features</a:t>
            </a:r>
            <a:r>
              <a:rPr lang="fr-FR" dirty="0"/>
              <a:t>; </a:t>
            </a:r>
            <a:r>
              <a:rPr lang="fr-FR" dirty="0" err="1"/>
              <a:t>strong</a:t>
            </a:r>
            <a:r>
              <a:rPr lang="fr-FR" dirty="0"/>
              <a:t> and </a:t>
            </a:r>
            <a:r>
              <a:rPr lang="fr-FR" dirty="0" err="1"/>
              <a:t>interpretable</a:t>
            </a:r>
            <a:r>
              <a:rPr lang="fr-FR" dirty="0"/>
              <a:t> </a:t>
            </a:r>
            <a:r>
              <a:rPr lang="fr-FR" dirty="0" err="1"/>
              <a:t>baseline</a:t>
            </a:r>
            <a:endParaRPr lang="fr-FR" dirty="0"/>
          </a:p>
          <a:p>
            <a:pPr lvl="1"/>
            <a:r>
              <a:rPr lang="fr-FR" sz="2000" b="1" dirty="0"/>
              <a:t>Shallow MLP</a:t>
            </a:r>
            <a:r>
              <a:rPr lang="fr-FR" sz="2000" dirty="0"/>
              <a:t> (</a:t>
            </a:r>
            <a:r>
              <a:rPr lang="fr-FR" sz="2000" dirty="0" err="1"/>
              <a:t>fully</a:t>
            </a:r>
            <a:r>
              <a:rPr lang="fr-FR" sz="2000" dirty="0"/>
              <a:t> </a:t>
            </a:r>
            <a:r>
              <a:rPr lang="fr-FR" sz="2000" dirty="0" err="1"/>
              <a:t>connected</a:t>
            </a:r>
            <a:r>
              <a:rPr lang="fr-FR" sz="2000" dirty="0"/>
              <a:t> NN)</a:t>
            </a:r>
          </a:p>
          <a:p>
            <a:pPr lvl="2"/>
            <a:r>
              <a:rPr lang="fr-FR" dirty="0"/>
              <a:t>On the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features</a:t>
            </a:r>
            <a:r>
              <a:rPr lang="fr-FR" dirty="0"/>
              <a:t>; simple </a:t>
            </a:r>
            <a:r>
              <a:rPr lang="fr-FR" dirty="0" err="1"/>
              <a:t>nonlinear</a:t>
            </a:r>
            <a:r>
              <a:rPr lang="fr-FR" dirty="0"/>
              <a:t> model</a:t>
            </a:r>
          </a:p>
          <a:p>
            <a:r>
              <a:rPr lang="fr-FR" sz="2000" b="1" dirty="0">
                <a:solidFill>
                  <a:srgbClr val="0070C0"/>
                </a:solidFill>
              </a:rPr>
              <a:t>Advanced </a:t>
            </a:r>
            <a:r>
              <a:rPr lang="fr-FR" sz="2000" b="1" dirty="0" err="1">
                <a:solidFill>
                  <a:srgbClr val="0070C0"/>
                </a:solidFill>
              </a:rPr>
              <a:t>models</a:t>
            </a:r>
            <a:r>
              <a:rPr lang="fr-FR" sz="2000" b="1" dirty="0">
                <a:solidFill>
                  <a:srgbClr val="0070C0"/>
                </a:solidFill>
              </a:rPr>
              <a:t> (</a:t>
            </a:r>
            <a:r>
              <a:rPr lang="fr-FR" sz="2000" b="1" dirty="0" err="1">
                <a:solidFill>
                  <a:srgbClr val="0070C0"/>
                </a:solidFill>
              </a:rPr>
              <a:t>after</a:t>
            </a:r>
            <a:r>
              <a:rPr lang="fr-FR" sz="2000" b="1" dirty="0">
                <a:solidFill>
                  <a:srgbClr val="0070C0"/>
                </a:solidFill>
              </a:rPr>
              <a:t> </a:t>
            </a:r>
            <a:r>
              <a:rPr lang="fr-FR" sz="2000" b="1" dirty="0" err="1">
                <a:solidFill>
                  <a:srgbClr val="0070C0"/>
                </a:solidFill>
              </a:rPr>
              <a:t>framework</a:t>
            </a:r>
            <a:r>
              <a:rPr lang="fr-FR" sz="2000" b="1" dirty="0">
                <a:solidFill>
                  <a:srgbClr val="0070C0"/>
                </a:solidFill>
              </a:rPr>
              <a:t> </a:t>
            </a:r>
            <a:r>
              <a:rPr lang="fr-FR" sz="2000" b="1" dirty="0" err="1">
                <a:solidFill>
                  <a:srgbClr val="0070C0"/>
                </a:solidFill>
              </a:rPr>
              <a:t>works</a:t>
            </a:r>
            <a:r>
              <a:rPr lang="fr-FR" sz="2000" b="1" dirty="0">
                <a:solidFill>
                  <a:srgbClr val="0070C0"/>
                </a:solidFill>
              </a:rPr>
              <a:t>):</a:t>
            </a:r>
            <a:endParaRPr lang="fr-FR" sz="2000" dirty="0">
              <a:solidFill>
                <a:srgbClr val="0070C0"/>
              </a:solidFill>
            </a:endParaRPr>
          </a:p>
          <a:p>
            <a:pPr lvl="1"/>
            <a:r>
              <a:rPr lang="fr-FR" sz="2000" b="1" dirty="0"/>
              <a:t>1D‑CNN</a:t>
            </a:r>
            <a:r>
              <a:rPr lang="fr-FR" sz="2000" dirty="0"/>
              <a:t> on </a:t>
            </a:r>
            <a:r>
              <a:rPr lang="fr-FR" sz="2000" dirty="0" err="1"/>
              <a:t>current</a:t>
            </a:r>
            <a:r>
              <a:rPr lang="fr-FR" sz="2000" dirty="0"/>
              <a:t>/voltage </a:t>
            </a:r>
            <a:r>
              <a:rPr lang="fr-FR" sz="2000" dirty="0" err="1"/>
              <a:t>windows</a:t>
            </a:r>
            <a:r>
              <a:rPr lang="fr-FR" sz="2000" dirty="0"/>
              <a:t> – </a:t>
            </a:r>
            <a:r>
              <a:rPr lang="fr-FR" sz="2000" dirty="0" err="1"/>
              <a:t>learns</a:t>
            </a:r>
            <a:r>
              <a:rPr lang="fr-FR" sz="2000" dirty="0"/>
              <a:t> local transient patterns</a:t>
            </a:r>
          </a:p>
          <a:p>
            <a:pPr lvl="1"/>
            <a:r>
              <a:rPr lang="fr-FR" sz="2000" b="1" dirty="0"/>
              <a:t>CNN‑LSTM / CNN‑GRU</a:t>
            </a:r>
            <a:r>
              <a:rPr lang="fr-FR" sz="2000" dirty="0"/>
              <a:t> – CNN </a:t>
            </a:r>
            <a:r>
              <a:rPr lang="fr-FR" sz="2000" dirty="0" err="1"/>
              <a:t>features</a:t>
            </a:r>
            <a:r>
              <a:rPr lang="fr-FR" sz="2000" dirty="0"/>
              <a:t> + temporal </a:t>
            </a:r>
            <a:r>
              <a:rPr lang="fr-FR" sz="2000" dirty="0" err="1"/>
              <a:t>evolution</a:t>
            </a:r>
            <a:r>
              <a:rPr lang="fr-FR" sz="2000" dirty="0"/>
              <a:t> for </a:t>
            </a:r>
            <a:r>
              <a:rPr lang="fr-FR" sz="2000" dirty="0" err="1"/>
              <a:t>evolving</a:t>
            </a:r>
            <a:r>
              <a:rPr lang="fr-FR" sz="2000" dirty="0"/>
              <a:t> </a:t>
            </a:r>
            <a:r>
              <a:rPr lang="fr-FR" sz="2000" dirty="0" err="1"/>
              <a:t>faults</a:t>
            </a:r>
            <a:endParaRPr lang="fr-FR" sz="2000" dirty="0"/>
          </a:p>
          <a:p>
            <a:pPr lvl="1"/>
            <a:r>
              <a:rPr lang="fr-FR" sz="2000" b="1" dirty="0"/>
              <a:t>LSTM/GRU</a:t>
            </a:r>
            <a:r>
              <a:rPr lang="fr-FR" sz="2000" dirty="0"/>
              <a:t> on time‑</a:t>
            </a:r>
            <a:r>
              <a:rPr lang="fr-FR" sz="2000" dirty="0" err="1"/>
              <a:t>series</a:t>
            </a:r>
            <a:r>
              <a:rPr lang="fr-FR" sz="2000" dirty="0"/>
              <a:t> or per‑cycle </a:t>
            </a:r>
            <a:r>
              <a:rPr lang="fr-FR" sz="2000" dirty="0" err="1"/>
              <a:t>features</a:t>
            </a:r>
            <a:r>
              <a:rPr lang="fr-FR" sz="2000" dirty="0"/>
              <a:t> – explicit temporal </a:t>
            </a:r>
            <a:r>
              <a:rPr lang="fr-FR" sz="2000" dirty="0" err="1"/>
              <a:t>modelling</a:t>
            </a:r>
            <a:endParaRPr lang="fr-FR" sz="20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90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7CA7C3-2180-8BA2-4341-635D99557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Features</a:t>
            </a:r>
            <a:r>
              <a:rPr lang="fr-FR" dirty="0"/>
              <a:t> &amp; data plan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32B147-6552-562B-6A11-2A1ED5837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b="1" dirty="0" err="1">
                <a:solidFill>
                  <a:srgbClr val="0070C0"/>
                </a:solidFill>
              </a:rPr>
              <a:t>Features</a:t>
            </a:r>
            <a:r>
              <a:rPr lang="fr-FR" sz="2000" b="1" dirty="0">
                <a:solidFill>
                  <a:srgbClr val="0070C0"/>
                </a:solidFill>
              </a:rPr>
              <a:t> (</a:t>
            </a:r>
            <a:r>
              <a:rPr lang="fr-FR" sz="2000" b="1" dirty="0" err="1">
                <a:solidFill>
                  <a:srgbClr val="0070C0"/>
                </a:solidFill>
              </a:rPr>
              <a:t>from</a:t>
            </a:r>
            <a:r>
              <a:rPr lang="fr-FR" sz="2000" b="1" dirty="0">
                <a:solidFill>
                  <a:srgbClr val="0070C0"/>
                </a:solidFill>
              </a:rPr>
              <a:t> </a:t>
            </a:r>
            <a:r>
              <a:rPr lang="fr-FR" sz="2000" b="1" dirty="0" err="1">
                <a:solidFill>
                  <a:srgbClr val="0070C0"/>
                </a:solidFill>
              </a:rPr>
              <a:t>relays</a:t>
            </a:r>
            <a:r>
              <a:rPr lang="fr-FR" sz="2000" b="1" dirty="0">
                <a:solidFill>
                  <a:srgbClr val="0070C0"/>
                </a:solidFill>
              </a:rPr>
              <a:t> + </a:t>
            </a:r>
            <a:r>
              <a:rPr lang="fr-FR" sz="2000" b="1" dirty="0" err="1">
                <a:solidFill>
                  <a:srgbClr val="0070C0"/>
                </a:solidFill>
              </a:rPr>
              <a:t>papers</a:t>
            </a:r>
            <a:r>
              <a:rPr lang="fr-FR" sz="2000" b="1" dirty="0">
                <a:solidFill>
                  <a:srgbClr val="0070C0"/>
                </a:solidFill>
              </a:rPr>
              <a:t>):</a:t>
            </a:r>
            <a:endParaRPr lang="fr-FR" sz="2000" dirty="0">
              <a:solidFill>
                <a:srgbClr val="0070C0"/>
              </a:solidFill>
            </a:endParaRPr>
          </a:p>
          <a:p>
            <a:pPr lvl="1"/>
            <a:r>
              <a:rPr lang="fr-FR" sz="2000" dirty="0"/>
              <a:t>Per‑phase RMS </a:t>
            </a:r>
            <a:r>
              <a:rPr lang="fr-FR" sz="2000" dirty="0" err="1"/>
              <a:t>currents</a:t>
            </a:r>
            <a:r>
              <a:rPr lang="fr-FR" sz="2000" dirty="0"/>
              <a:t>/voltages, </a:t>
            </a:r>
            <a:r>
              <a:rPr lang="fr-FR" sz="2000" dirty="0" err="1"/>
              <a:t>peaks</a:t>
            </a:r>
            <a:endParaRPr lang="fr-FR" sz="2000" dirty="0"/>
          </a:p>
          <a:p>
            <a:pPr lvl="1"/>
            <a:r>
              <a:rPr lang="fr-FR" sz="2000" dirty="0"/>
              <a:t>Positive/</a:t>
            </a:r>
            <a:r>
              <a:rPr lang="fr-FR" sz="2000" dirty="0" err="1"/>
              <a:t>negative</a:t>
            </a:r>
            <a:r>
              <a:rPr lang="fr-FR" sz="2000" dirty="0"/>
              <a:t>/</a:t>
            </a:r>
            <a:r>
              <a:rPr lang="fr-FR" sz="2000" dirty="0" err="1"/>
              <a:t>zero</a:t>
            </a:r>
            <a:r>
              <a:rPr lang="fr-FR" sz="2000" dirty="0"/>
              <a:t> </a:t>
            </a:r>
            <a:r>
              <a:rPr lang="fr-FR" sz="2000" dirty="0" err="1"/>
              <a:t>sequence</a:t>
            </a:r>
            <a:r>
              <a:rPr lang="fr-FR" sz="2000" dirty="0"/>
              <a:t> components</a:t>
            </a:r>
          </a:p>
          <a:p>
            <a:pPr lvl="1"/>
            <a:r>
              <a:rPr lang="fr-FR" sz="2000" dirty="0"/>
              <a:t>Apparent </a:t>
            </a:r>
            <a:r>
              <a:rPr lang="fr-FR" sz="2000" dirty="0" err="1"/>
              <a:t>impedance</a:t>
            </a:r>
            <a:r>
              <a:rPr lang="fr-FR" sz="2000" dirty="0"/>
              <a:t> / distance‑like </a:t>
            </a:r>
            <a:r>
              <a:rPr lang="fr-FR" sz="2000" dirty="0" err="1"/>
              <a:t>quantities</a:t>
            </a:r>
            <a:endParaRPr lang="fr-FR" sz="2000" dirty="0"/>
          </a:p>
          <a:p>
            <a:pPr lvl="1"/>
            <a:r>
              <a:rPr lang="fr-FR" sz="2000" dirty="0"/>
              <a:t>Frequency, </a:t>
            </a:r>
            <a:r>
              <a:rPr lang="fr-FR" sz="2000" dirty="0" err="1"/>
              <a:t>RoCoF</a:t>
            </a:r>
            <a:r>
              <a:rPr lang="fr-FR" sz="2000" dirty="0"/>
              <a:t>, </a:t>
            </a:r>
            <a:r>
              <a:rPr lang="fr-FR" sz="2000" dirty="0" err="1"/>
              <a:t>dI</a:t>
            </a:r>
            <a:r>
              <a:rPr lang="fr-FR" sz="2000" dirty="0"/>
              <a:t>/</a:t>
            </a:r>
            <a:r>
              <a:rPr lang="fr-FR" sz="2000" dirty="0" err="1"/>
              <a:t>dt</a:t>
            </a:r>
            <a:r>
              <a:rPr lang="fr-FR" sz="2000" dirty="0"/>
              <a:t>, </a:t>
            </a:r>
            <a:r>
              <a:rPr lang="fr-FR" sz="2000" dirty="0" err="1"/>
              <a:t>dV</a:t>
            </a:r>
            <a:r>
              <a:rPr lang="fr-FR" sz="2000" dirty="0"/>
              <a:t>/</a:t>
            </a:r>
            <a:r>
              <a:rPr lang="fr-FR" sz="2000" dirty="0" err="1"/>
              <a:t>dt</a:t>
            </a:r>
            <a:endParaRPr lang="fr-FR" sz="2000" dirty="0"/>
          </a:p>
          <a:p>
            <a:pPr lvl="1"/>
            <a:r>
              <a:rPr lang="fr-FR" sz="2000" dirty="0" err="1"/>
              <a:t>Harmonic</a:t>
            </a:r>
            <a:r>
              <a:rPr lang="fr-FR" sz="2000" dirty="0"/>
              <a:t> / THD </a:t>
            </a:r>
            <a:r>
              <a:rPr lang="fr-FR" sz="2000" dirty="0" err="1"/>
              <a:t>indicators</a:t>
            </a:r>
            <a:r>
              <a:rPr lang="fr-FR" sz="2000" dirty="0"/>
              <a:t> (IBR and HIF </a:t>
            </a:r>
            <a:r>
              <a:rPr lang="fr-FR" sz="2000" dirty="0" err="1"/>
              <a:t>behaviour</a:t>
            </a:r>
            <a:r>
              <a:rPr lang="fr-FR" sz="2000" dirty="0"/>
              <a:t>)</a:t>
            </a:r>
          </a:p>
          <a:p>
            <a:r>
              <a:rPr lang="fr-FR" sz="2000" b="1" dirty="0">
                <a:solidFill>
                  <a:srgbClr val="0070C0"/>
                </a:solidFill>
              </a:rPr>
              <a:t>Data:</a:t>
            </a:r>
            <a:endParaRPr lang="fr-FR" sz="2000" dirty="0">
              <a:solidFill>
                <a:srgbClr val="0070C0"/>
              </a:solidFill>
            </a:endParaRPr>
          </a:p>
          <a:p>
            <a:pPr lvl="1"/>
            <a:r>
              <a:rPr lang="fr-FR" sz="2000" dirty="0"/>
              <a:t>Try to use </a:t>
            </a:r>
            <a:r>
              <a:rPr lang="fr-FR" sz="2000" b="1" dirty="0"/>
              <a:t>real / </a:t>
            </a:r>
            <a:r>
              <a:rPr lang="fr-FR" sz="2000" b="1" dirty="0" err="1"/>
              <a:t>recorded</a:t>
            </a:r>
            <a:r>
              <a:rPr lang="fr-FR" sz="2000" b="1" dirty="0"/>
              <a:t> </a:t>
            </a:r>
            <a:r>
              <a:rPr lang="fr-FR" sz="2000" b="1" dirty="0" err="1"/>
              <a:t>relay</a:t>
            </a:r>
            <a:r>
              <a:rPr lang="fr-FR" sz="2000" b="1" dirty="0"/>
              <a:t> </a:t>
            </a:r>
            <a:r>
              <a:rPr lang="fr-FR" sz="2000" b="1" dirty="0" err="1"/>
              <a:t>events</a:t>
            </a:r>
            <a:r>
              <a:rPr lang="fr-FR" sz="2000" dirty="0"/>
              <a:t> if </a:t>
            </a:r>
            <a:r>
              <a:rPr lang="fr-FR" sz="2000" dirty="0" err="1"/>
              <a:t>available</a:t>
            </a:r>
            <a:r>
              <a:rPr lang="fr-FR" sz="2000" dirty="0"/>
              <a:t> (for </a:t>
            </a:r>
            <a:r>
              <a:rPr lang="fr-FR" sz="2000" dirty="0" err="1"/>
              <a:t>testing</a:t>
            </a:r>
            <a:r>
              <a:rPr lang="fr-FR" sz="2000" dirty="0"/>
              <a:t>/</a:t>
            </a:r>
            <a:r>
              <a:rPr lang="fr-FR" sz="2000" dirty="0" err="1"/>
              <a:t>generalization</a:t>
            </a:r>
            <a:r>
              <a:rPr lang="fr-FR" sz="2000" dirty="0"/>
              <a:t>)</a:t>
            </a:r>
          </a:p>
          <a:p>
            <a:pPr lvl="1"/>
            <a:r>
              <a:rPr lang="fr-FR" sz="2000" dirty="0" err="1"/>
              <a:t>Build</a:t>
            </a:r>
            <a:r>
              <a:rPr lang="fr-FR" sz="2000" dirty="0"/>
              <a:t> </a:t>
            </a:r>
            <a:r>
              <a:rPr lang="fr-FR" sz="2000" b="1" dirty="0"/>
              <a:t>simulation </a:t>
            </a:r>
            <a:r>
              <a:rPr lang="fr-FR" sz="2000" b="1" dirty="0" err="1"/>
              <a:t>dataset</a:t>
            </a:r>
            <a:r>
              <a:rPr lang="fr-FR" sz="2000" dirty="0"/>
              <a:t> if real data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limited</a:t>
            </a:r>
            <a:r>
              <a:rPr lang="fr-FR" sz="2000" dirty="0"/>
              <a:t> (</a:t>
            </a:r>
            <a:r>
              <a:rPr lang="fr-FR" sz="2000" dirty="0" err="1"/>
              <a:t>fault</a:t>
            </a:r>
            <a:r>
              <a:rPr lang="fr-FR" sz="2000" dirty="0"/>
              <a:t> locations, </a:t>
            </a:r>
            <a:r>
              <a:rPr lang="fr-FR" sz="2000" dirty="0" err="1"/>
              <a:t>impedances</a:t>
            </a:r>
            <a:r>
              <a:rPr lang="fr-FR" sz="2000" dirty="0"/>
              <a:t>, operating points, DER </a:t>
            </a:r>
            <a:r>
              <a:rPr lang="fr-FR" sz="2000" dirty="0" err="1"/>
              <a:t>levels</a:t>
            </a:r>
            <a:r>
              <a:rPr lang="fr-FR" sz="2000" dirty="0"/>
              <a:t>)</a:t>
            </a:r>
          </a:p>
          <a:p>
            <a:pPr lvl="1"/>
            <a:r>
              <a:rPr lang="fr-FR" sz="2000" dirty="0"/>
              <a:t>Later: use </a:t>
            </a:r>
            <a:r>
              <a:rPr lang="fr-FR" sz="2000" b="1" dirty="0" err="1"/>
              <a:t>lab</a:t>
            </a:r>
            <a:r>
              <a:rPr lang="fr-FR" sz="2000" b="1" dirty="0"/>
              <a:t> / HIL</a:t>
            </a:r>
            <a:r>
              <a:rPr lang="fr-FR" sz="2000" dirty="0"/>
              <a:t> to </a:t>
            </a:r>
            <a:r>
              <a:rPr lang="fr-FR" sz="2000" dirty="0" err="1"/>
              <a:t>feed</a:t>
            </a:r>
            <a:r>
              <a:rPr lang="fr-FR" sz="2000" dirty="0"/>
              <a:t> real‑time </a:t>
            </a:r>
            <a:r>
              <a:rPr lang="fr-FR" sz="2000" dirty="0" err="1"/>
              <a:t>signals</a:t>
            </a:r>
            <a:r>
              <a:rPr lang="fr-FR" sz="2000" dirty="0"/>
              <a:t> to the best model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068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D7F15A-E7EF-026D-3BCE-544EA9BE3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Evaluation &amp; </a:t>
            </a:r>
            <a:r>
              <a:rPr lang="fr-FR" dirty="0" err="1"/>
              <a:t>explainability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D7E32C-CA1F-3C56-22A0-7938828F3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2600" b="1" dirty="0">
                <a:solidFill>
                  <a:srgbClr val="0070C0"/>
                </a:solidFill>
              </a:rPr>
              <a:t>Compare ML vs </a:t>
            </a:r>
            <a:r>
              <a:rPr lang="fr-FR" sz="2600" b="1" dirty="0" err="1">
                <a:solidFill>
                  <a:srgbClr val="0070C0"/>
                </a:solidFill>
              </a:rPr>
              <a:t>conventional</a:t>
            </a:r>
            <a:r>
              <a:rPr lang="fr-FR" sz="2600" b="1" dirty="0">
                <a:solidFill>
                  <a:srgbClr val="0070C0"/>
                </a:solidFill>
              </a:rPr>
              <a:t> </a:t>
            </a:r>
            <a:r>
              <a:rPr lang="fr-FR" sz="2600" b="1" dirty="0" err="1">
                <a:solidFill>
                  <a:srgbClr val="0070C0"/>
                </a:solidFill>
              </a:rPr>
              <a:t>baseline</a:t>
            </a:r>
            <a:r>
              <a:rPr lang="fr-FR" sz="2600" b="1" dirty="0">
                <a:solidFill>
                  <a:srgbClr val="0070C0"/>
                </a:solidFill>
              </a:rPr>
              <a:t> </a:t>
            </a:r>
            <a:r>
              <a:rPr lang="fr-FR" sz="2600" b="1" dirty="0" err="1">
                <a:solidFill>
                  <a:srgbClr val="0070C0"/>
                </a:solidFill>
              </a:rPr>
              <a:t>using</a:t>
            </a:r>
            <a:r>
              <a:rPr lang="fr-FR" sz="2600" b="1" dirty="0">
                <a:solidFill>
                  <a:srgbClr val="0070C0"/>
                </a:solidFill>
              </a:rPr>
              <a:t>:</a:t>
            </a:r>
          </a:p>
          <a:p>
            <a:pPr lvl="1"/>
            <a:r>
              <a:rPr lang="fr-FR" sz="2600" dirty="0" err="1"/>
              <a:t>dependability</a:t>
            </a:r>
            <a:r>
              <a:rPr lang="fr-FR" sz="2600" dirty="0"/>
              <a:t>, </a:t>
            </a:r>
            <a:r>
              <a:rPr lang="fr-FR" sz="2600" dirty="0" err="1"/>
              <a:t>security</a:t>
            </a:r>
            <a:r>
              <a:rPr lang="fr-FR" sz="2600" dirty="0"/>
              <a:t>, </a:t>
            </a:r>
            <a:r>
              <a:rPr lang="fr-FR" sz="2600" dirty="0" err="1"/>
              <a:t>selectivity</a:t>
            </a:r>
            <a:r>
              <a:rPr lang="fr-FR" sz="2600" dirty="0"/>
              <a:t>, operating time, </a:t>
            </a:r>
            <a:r>
              <a:rPr lang="fr-FR" sz="2600" dirty="0" err="1"/>
              <a:t>sensitivity</a:t>
            </a:r>
            <a:r>
              <a:rPr lang="fr-FR" sz="2600" dirty="0"/>
              <a:t>, </a:t>
            </a:r>
            <a:r>
              <a:rPr lang="fr-FR" sz="2600" dirty="0" err="1"/>
              <a:t>misoperation</a:t>
            </a:r>
            <a:r>
              <a:rPr lang="fr-FR" sz="2600" dirty="0"/>
              <a:t> rate, </a:t>
            </a:r>
            <a:r>
              <a:rPr lang="fr-FR" sz="2600" dirty="0" err="1"/>
              <a:t>latency</a:t>
            </a:r>
            <a:endParaRPr lang="fr-FR" sz="2600" dirty="0"/>
          </a:p>
          <a:p>
            <a:pPr lvl="1"/>
            <a:r>
              <a:rPr lang="fr-FR" sz="2600" dirty="0"/>
              <a:t>strict </a:t>
            </a:r>
            <a:r>
              <a:rPr lang="fr-FR" sz="2600" dirty="0" err="1"/>
              <a:t>generalization</a:t>
            </a:r>
            <a:r>
              <a:rPr lang="fr-FR" sz="2600" dirty="0"/>
              <a:t>: </a:t>
            </a:r>
            <a:r>
              <a:rPr lang="fr-FR" sz="2600" dirty="0" err="1"/>
              <a:t>unseen</a:t>
            </a:r>
            <a:r>
              <a:rPr lang="fr-FR" sz="2600" dirty="0"/>
              <a:t> </a:t>
            </a:r>
            <a:r>
              <a:rPr lang="fr-FR" sz="2600" dirty="0" err="1"/>
              <a:t>fault</a:t>
            </a:r>
            <a:r>
              <a:rPr lang="fr-FR" sz="2600" dirty="0"/>
              <a:t> locations/</a:t>
            </a:r>
            <a:r>
              <a:rPr lang="fr-FR" sz="2600" dirty="0" err="1"/>
              <a:t>impedances</a:t>
            </a:r>
            <a:endParaRPr lang="fr-FR" sz="2600" dirty="0"/>
          </a:p>
          <a:p>
            <a:r>
              <a:rPr lang="fr-FR" sz="2600" b="1" dirty="0" err="1">
                <a:solidFill>
                  <a:srgbClr val="0070C0"/>
                </a:solidFill>
              </a:rPr>
              <a:t>Explainability</a:t>
            </a:r>
            <a:r>
              <a:rPr lang="fr-FR" sz="2600" b="1" dirty="0">
                <a:solidFill>
                  <a:srgbClr val="0070C0"/>
                </a:solidFill>
              </a:rPr>
              <a:t>:</a:t>
            </a:r>
          </a:p>
          <a:p>
            <a:pPr lvl="1"/>
            <a:r>
              <a:rPr lang="fr-FR" sz="2600" dirty="0"/>
              <a:t>Trees: </a:t>
            </a:r>
            <a:r>
              <a:rPr lang="fr-FR" sz="2600" dirty="0" err="1"/>
              <a:t>feature</a:t>
            </a:r>
            <a:r>
              <a:rPr lang="fr-FR" sz="2600" dirty="0"/>
              <a:t> importance, </a:t>
            </a:r>
            <a:r>
              <a:rPr lang="fr-FR" sz="2600" dirty="0" err="1"/>
              <a:t>decision</a:t>
            </a:r>
            <a:r>
              <a:rPr lang="fr-FR" sz="2600" dirty="0"/>
              <a:t> </a:t>
            </a:r>
            <a:r>
              <a:rPr lang="fr-FR" sz="2600" dirty="0" err="1"/>
              <a:t>paths</a:t>
            </a:r>
            <a:endParaRPr lang="fr-FR" sz="2600" dirty="0"/>
          </a:p>
          <a:p>
            <a:pPr lvl="1"/>
            <a:r>
              <a:rPr lang="fr-FR" sz="2600" dirty="0"/>
              <a:t>MLP/CNN/LSTM: SHAP / </a:t>
            </a:r>
            <a:r>
              <a:rPr lang="fr-FR" sz="2600" dirty="0" err="1"/>
              <a:t>feature</a:t>
            </a:r>
            <a:r>
              <a:rPr lang="fr-FR" sz="2600" dirty="0"/>
              <a:t> attributions and time‑</a:t>
            </a:r>
            <a:r>
              <a:rPr lang="fr-FR" sz="2600" dirty="0" err="1"/>
              <a:t>series</a:t>
            </a:r>
            <a:r>
              <a:rPr lang="fr-FR" sz="2600" dirty="0"/>
              <a:t> </a:t>
            </a:r>
            <a:r>
              <a:rPr lang="fr-FR" sz="2600" dirty="0" err="1"/>
              <a:t>saliency</a:t>
            </a:r>
            <a:r>
              <a:rPr lang="fr-FR" sz="2600" dirty="0"/>
              <a:t>, </a:t>
            </a:r>
            <a:r>
              <a:rPr lang="fr-FR" sz="2600" dirty="0" err="1"/>
              <a:t>interpreted</a:t>
            </a:r>
            <a:r>
              <a:rPr lang="fr-FR" sz="2600" dirty="0"/>
              <a:t> as </a:t>
            </a:r>
            <a:r>
              <a:rPr lang="fr-FR" sz="2600" dirty="0" err="1"/>
              <a:t>physical</a:t>
            </a:r>
            <a:r>
              <a:rPr lang="fr-FR" sz="2600" dirty="0"/>
              <a:t> </a:t>
            </a:r>
            <a:r>
              <a:rPr lang="fr-FR" sz="2600" dirty="0" err="1"/>
              <a:t>quantities</a:t>
            </a:r>
            <a:r>
              <a:rPr lang="fr-FR" sz="2600" dirty="0"/>
              <a:t> (e.g. </a:t>
            </a:r>
            <a:r>
              <a:rPr lang="fr-FR" sz="2600" dirty="0" err="1"/>
              <a:t>negative</a:t>
            </a:r>
            <a:r>
              <a:rPr lang="fr-FR" sz="2600" dirty="0"/>
              <a:t> </a:t>
            </a:r>
            <a:r>
              <a:rPr lang="fr-FR" sz="2600" dirty="0" err="1"/>
              <a:t>sequence</a:t>
            </a:r>
            <a:r>
              <a:rPr lang="fr-FR" sz="2600" dirty="0"/>
              <a:t> </a:t>
            </a:r>
            <a:r>
              <a:rPr lang="fr-FR" sz="2600" dirty="0" err="1"/>
              <a:t>current</a:t>
            </a:r>
            <a:r>
              <a:rPr lang="fr-FR" sz="2600" dirty="0"/>
              <a:t>, </a:t>
            </a:r>
            <a:r>
              <a:rPr lang="fr-FR" sz="2600" dirty="0" err="1"/>
              <a:t>impedance</a:t>
            </a:r>
            <a:r>
              <a:rPr lang="fr-FR" sz="2600" dirty="0"/>
              <a:t> </a:t>
            </a:r>
            <a:r>
              <a:rPr lang="fr-FR" sz="2600" dirty="0" err="1"/>
              <a:t>entering</a:t>
            </a:r>
            <a:r>
              <a:rPr lang="fr-FR" sz="2600" dirty="0"/>
              <a:t> zone)</a:t>
            </a:r>
          </a:p>
          <a:p>
            <a:pPr marL="457200" lvl="1" indent="0">
              <a:buNone/>
            </a:pPr>
            <a:endParaRPr lang="fr-FR" sz="2600" dirty="0"/>
          </a:p>
          <a:p>
            <a:r>
              <a:rPr lang="fr-FR" sz="2600" b="1" u="sng" dirty="0">
                <a:solidFill>
                  <a:srgbClr val="0070C0"/>
                </a:solidFill>
              </a:rPr>
              <a:t>Aim</a:t>
            </a:r>
            <a:r>
              <a:rPr lang="fr-FR" sz="2600" dirty="0"/>
              <a:t>: show </a:t>
            </a:r>
            <a:r>
              <a:rPr lang="fr-FR" sz="2600" dirty="0" err="1"/>
              <a:t>that</a:t>
            </a:r>
            <a:r>
              <a:rPr lang="fr-FR" sz="2600" dirty="0"/>
              <a:t> the ML “</a:t>
            </a:r>
            <a:r>
              <a:rPr lang="fr-FR" sz="2600" dirty="0" err="1"/>
              <a:t>relay</a:t>
            </a:r>
            <a:r>
              <a:rPr lang="fr-FR" sz="2600" dirty="0"/>
              <a:t>” trips for </a:t>
            </a:r>
            <a:r>
              <a:rPr lang="fr-FR" sz="2600" b="1" dirty="0" err="1"/>
              <a:t>physically</a:t>
            </a:r>
            <a:r>
              <a:rPr lang="fr-FR" sz="2600" b="1" dirty="0"/>
              <a:t> </a:t>
            </a:r>
            <a:r>
              <a:rPr lang="fr-FR" sz="2600" b="1" dirty="0" err="1"/>
              <a:t>meaningful</a:t>
            </a:r>
            <a:r>
              <a:rPr lang="fr-FR" sz="2600" b="1" dirty="0"/>
              <a:t> </a:t>
            </a:r>
            <a:r>
              <a:rPr lang="fr-FR" sz="2600" b="1" dirty="0" err="1"/>
              <a:t>reasons</a:t>
            </a:r>
            <a:r>
              <a:rPr lang="fr-FR" sz="2600" dirty="0"/>
              <a:t>, not simulation </a:t>
            </a:r>
            <a:r>
              <a:rPr lang="fr-FR" sz="2600" dirty="0" err="1"/>
              <a:t>artifacts</a:t>
            </a:r>
            <a:endParaRPr lang="fr-FR" sz="2600" dirty="0"/>
          </a:p>
          <a:p>
            <a:pPr marL="0" indent="0">
              <a:buNone/>
            </a:pP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805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C5F48FC8620C846BFDF02706287BA85" ma:contentTypeVersion="16" ma:contentTypeDescription="Ein neues Dokument erstellen." ma:contentTypeScope="" ma:versionID="19e7e97803ad6b16749f21d789f1495e">
  <xsd:schema xmlns:xsd="http://www.w3.org/2001/XMLSchema" xmlns:xs="http://www.w3.org/2001/XMLSchema" xmlns:p="http://schemas.microsoft.com/office/2006/metadata/properties" xmlns:ns3="47ad4ef3-b520-4bcc-968d-0c77da8a2705" xmlns:ns4="f0a44800-cd16-4055-8bc4-330b5ee0374d" targetNamespace="http://schemas.microsoft.com/office/2006/metadata/properties" ma:root="true" ma:fieldsID="8c62d82093367973d541e14007967fcf" ns3:_="" ns4:_="">
    <xsd:import namespace="47ad4ef3-b520-4bcc-968d-0c77da8a2705"/>
    <xsd:import namespace="f0a44800-cd16-4055-8bc4-330b5ee037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ad4ef3-b520-4bcc-968d-0c77da8a27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a44800-cd16-4055-8bc4-330b5ee0374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7ad4ef3-b520-4bcc-968d-0c77da8a2705" xsi:nil="true"/>
  </documentManagement>
</p:properties>
</file>

<file path=customXml/itemProps1.xml><?xml version="1.0" encoding="utf-8"?>
<ds:datastoreItem xmlns:ds="http://schemas.openxmlformats.org/officeDocument/2006/customXml" ds:itemID="{EF5D0E34-16EF-41E3-B86C-DB95889908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ad4ef3-b520-4bcc-968d-0c77da8a2705"/>
    <ds:schemaRef ds:uri="f0a44800-cd16-4055-8bc4-330b5ee037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88A77D-055B-4994-B49D-BDE505F3D4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92AE1C-ABF9-4E24-9953-C7B5D9ADA0E5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elements/1.1/"/>
    <ds:schemaRef ds:uri="http://www.w3.org/XML/1998/namespace"/>
    <ds:schemaRef ds:uri="f0a44800-cd16-4055-8bc4-330b5ee0374d"/>
    <ds:schemaRef ds:uri="http://schemas.microsoft.com/office/infopath/2007/PartnerControls"/>
    <ds:schemaRef ds:uri="47ad4ef3-b520-4bcc-968d-0c77da8a2705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1379</Words>
  <Application>Microsoft Office PowerPoint</Application>
  <PresentationFormat>Grand écran</PresentationFormat>
  <Paragraphs>124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Explainable ML-Learning‑Based Protection – Strategy</vt:lpstr>
      <vt:lpstr>Overall workflow</vt:lpstr>
      <vt:lpstr>Model strategy</vt:lpstr>
      <vt:lpstr>Features &amp; data plan</vt:lpstr>
      <vt:lpstr>Evaluation &amp; explainability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Skander Zoghlami</dc:creator>
  <cp:lastModifiedBy>Skander Zoghlami</cp:lastModifiedBy>
  <cp:revision>5</cp:revision>
  <dcterms:created xsi:type="dcterms:W3CDTF">2026-06-15T22:40:58Z</dcterms:created>
  <dcterms:modified xsi:type="dcterms:W3CDTF">2026-06-16T18:22:19Z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0x0101008C5F48FC8620C846BFDF02706287BA85</vt:lpwstr>
  </property>
</Properties>
</file>